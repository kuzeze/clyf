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31520e8-cf53-9f96-6c25-8e7780294c26}">
          <p14:sldIdLst>
            <p14:sldId id="256"/>
          </p14:sldIdLst>
        </p14:section>
        <p14:section name="Problem and product" id="{26f0e528-1dbe-3523-82d2-cc89e2e0a145}">
          <p14:sldIdLst>
            <p14:sldId id="257"/>
            <p14:sldId id="258"/>
            <p14:sldId id="259"/>
          </p14:sldIdLst>
        </p14:section>
        <p14:section name="How it works" id="{c5bef36d-5748-e9ee-5ba6-b1140aa47652}">
          <p14:sldIdLst>
            <p14:sldId id="260"/>
            <p14:sldId id="261"/>
          </p14:sldIdLst>
        </p14:section>
        <p14:section name="Outlook" id="{00890c69-2b52-fde0-4c08-e6b8f1aa238f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LYF-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LYF-Conten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YF-Closing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YF 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1500" y="523860"/>
            <a:ext cx="5238780" cy="1619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900" b="1" spc="188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71500" y="976305"/>
            <a:ext cx="5238780" cy="2238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1425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endParaRPr lang="en-US" sz="1425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71500" y="2976555"/>
            <a:ext cx="4286250" cy="642915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8100"/>
              </a:lnSpc>
              <a:buNone/>
              <a:defRPr lang="en-US" sz="1950" b="1" dirty="0">
                <a:solidFill>
                  <a:schemeClr val="tx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defRPr>
            </a:lvl1pPr>
          </a:lstStyle>
          <a:p>
            <a:pPr algn="l" indent="0" marL="0">
              <a:lnSpc>
                <a:spcPct val="98100"/>
              </a:lnSpc>
              <a:buNone/>
            </a:pPr>
            <a:endParaRPr lang="en-US" sz="19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YF 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1500" y="523860"/>
            <a:ext cx="8001000" cy="1619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900" b="1" spc="188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71500" y="738195"/>
            <a:ext cx="8001000" cy="1095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76900"/>
              </a:lnSpc>
              <a:buNone/>
              <a:defRPr lang="en-US" sz="39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defRPr>
            </a:lvl1pPr>
          </a:lstStyle>
          <a:p>
            <a:pPr algn="l" indent="0" marL="0">
              <a:lnSpc>
                <a:spcPct val="76900"/>
              </a:lnSpc>
              <a:buNone/>
            </a:pPr>
            <a:endParaRPr lang="en-US" sz="39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71500" y="4762470"/>
            <a:ext cx="6191220" cy="133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750" spc="113" kern="0" dirty="0">
                <a:solidFill>
                  <a:srgbClr val="5663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19970" y="4762470"/>
            <a:ext cx="952530" cy="133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636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YF 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1500" y="1495410"/>
            <a:ext cx="8001000" cy="1619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00000"/>
              </a:lnSpc>
              <a:buNone/>
              <a:defRPr lang="en-US" sz="900" b="1" spc="188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ctr" indent="0" marL="0">
              <a:lnSpc>
                <a:spcPct val="100000"/>
              </a:lnSpc>
              <a:buNone/>
            </a:pP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71500" y="1433505"/>
            <a:ext cx="8001000" cy="17621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00000"/>
              </a:lnSpc>
              <a:buNone/>
              <a:defRPr lang="en-US" sz="1125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defRPr>
            </a:lvl1pPr>
          </a:lstStyle>
          <a:p>
            <a:pPr algn="ctr" indent="0" marL="0">
              <a:lnSpc>
                <a:spcPct val="100000"/>
              </a:lnSpc>
              <a:buNone/>
            </a:pPr>
            <a:endParaRPr lang="en-US" sz="1125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71500" y="2928915"/>
            <a:ext cx="8001000" cy="33339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98100"/>
              </a:lnSpc>
              <a:buNone/>
              <a:defRPr lang="en-US" sz="1950" b="1" dirty="0">
                <a:solidFill>
                  <a:schemeClr val="tx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defRPr>
            </a:lvl1pPr>
          </a:lstStyle>
          <a:p>
            <a:pPr algn="ctr" indent="0" marL="0">
              <a:lnSpc>
                <a:spcPct val="98100"/>
              </a:lnSpc>
              <a:buNone/>
            </a:pPr>
            <a:endParaRPr lang="en-US" sz="195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1500" y="3419490"/>
            <a:ext cx="8001000" cy="2476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14500"/>
              </a:lnSpc>
              <a:buNone/>
              <a:defRPr lang="en-US" sz="1275" dirty="0">
                <a:solidFill>
                  <a:schemeClr val="accent5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defRPr>
            </a:lvl1pPr>
          </a:lstStyle>
          <a:p>
            <a:pPr algn="ctr" indent="0" marL="0">
              <a:lnSpc>
                <a:spcPct val="114500"/>
              </a:lnSpc>
              <a:buNone/>
            </a:pPr>
            <a:endParaRPr lang="en-US" sz="127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19970" y="4762470"/>
            <a:ext cx="952530" cy="133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636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art" descr="Rendered forearm sleeve with its battery at 80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0385" y="0"/>
            <a:ext cx="6243615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71500" y="523860"/>
            <a:ext cx="5238780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8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BIGRED//HACKS 2026 · THEME: NAVIGATION</a:t>
            </a:r>
            <a:endParaRPr lang="en-US" sz="9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71500" y="976305"/>
            <a:ext cx="5238780" cy="2238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5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CLYF</a:t>
            </a:r>
            <a:endParaRPr lang="en-US" sz="1425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71500" y="2976555"/>
            <a:ext cx="4286250" cy="64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100"/>
              </a:lnSpc>
              <a:buNone/>
            </a:pPr>
            <a:r>
              <a:rPr lang="en-US" sz="1950" b="1" dirty="0">
                <a:solidFill>
                  <a:schemeClr val="tx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A forearm sleeve that tells climbers </a:t>
            </a:r>
            <a:pPr algn="l" indent="0" marL="0">
              <a:lnSpc>
                <a:spcPct val="98100"/>
              </a:lnSpc>
              <a:buNone/>
            </a:pPr>
            <a:r>
              <a:rPr lang="en-US" sz="1950" b="1" dirty="0">
                <a:solidFill>
                  <a:schemeClr val="accent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when to climb again.</a:t>
            </a:r>
            <a:endParaRPr lang="en-US" sz="195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905220"/>
            <a:ext cx="76197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4076670"/>
            <a:ext cx="7619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chemeClr val="tx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Jeremy Li</a:t>
            </a:r>
            <a:endParaRPr lang="en-US" sz="1125" dirty="0"/>
          </a:p>
        </p:txBody>
      </p:sp>
      <p:sp>
        <p:nvSpPr>
          <p:cNvPr id="8" name="Text 5"/>
          <p:cNvSpPr txBox="1"/>
          <p:nvPr/>
        </p:nvSpPr>
        <p:spPr>
          <a:xfrm>
            <a:off x="1447770" y="3905220"/>
            <a:ext cx="285750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50" kern="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BUILT WITH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1447770" y="4076670"/>
            <a:ext cx="28575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chemeClr val="tx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Arduino UNO Q · MyoWare 2.0 sEMG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1500" y="523860"/>
            <a:ext cx="8001000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8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71500" y="738195"/>
            <a:ext cx="8001000" cy="109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76900"/>
              </a:lnSpc>
              <a:buNone/>
            </a:pPr>
            <a:r>
              <a:rPr lang="en-US" sz="39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CLIMBERS GUESS</a:t>
            </a:r>
            <a:endParaRPr lang="en-US" sz="3900" dirty="0"/>
          </a:p>
          <a:p>
            <a:pPr algn="l" indent="0" marL="0">
              <a:lnSpc>
                <a:spcPct val="76900"/>
              </a:lnSpc>
              <a:buNone/>
            </a:pPr>
            <a:r>
              <a:rPr lang="en-US" sz="39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HOW LONG TO REST.</a:t>
            </a:r>
            <a:endParaRPr lang="en-US" sz="3900" dirty="0"/>
          </a:p>
        </p:txBody>
      </p:sp>
      <p:sp>
        <p:nvSpPr>
          <p:cNvPr id="4" name="Card THE PUMP"/>
          <p:cNvSpPr/>
          <p:nvPr/>
        </p:nvSpPr>
        <p:spPr>
          <a:xfrm>
            <a:off x="571500" y="2066910"/>
            <a:ext cx="2552730" cy="1285921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171450" tIns="180975" rIns="180975" bIns="19050" rtlCol="0" anchor="t"/>
          <a:lstStyle/>
          <a:p>
            <a:pPr algn="l" indent="0" marL="0">
              <a:lnSpc>
                <a:spcPct val="83500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chemeClr val="accent2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THE PUMP</a:t>
            </a:r>
            <a:endParaRPr lang="en-US" sz="1950" dirty="0"/>
          </a:p>
          <a:p>
            <a:pPr algn="l" indent="0" marL="0">
              <a:lnSpc>
                <a:spcPct val="118600"/>
              </a:lnSpc>
              <a:buNone/>
            </a:pPr>
            <a:r>
              <a:rPr lang="en-US" sz="1088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On a hard route the forearms give out first. Grip fades, and the climb ends.</a:t>
            </a:r>
            <a:endParaRPr lang="en-US" sz="1950" dirty="0"/>
          </a:p>
        </p:txBody>
      </p:sp>
      <p:sp>
        <p:nvSpPr>
          <p:cNvPr id="5" name="Card THE SHAKE-OUT"/>
          <p:cNvSpPr/>
          <p:nvPr/>
        </p:nvSpPr>
        <p:spPr>
          <a:xfrm>
            <a:off x="3295680" y="2066910"/>
            <a:ext cx="2552730" cy="1285921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171450" tIns="180975" rIns="180975" bIns="19050" rtlCol="0" anchor="t"/>
          <a:lstStyle/>
          <a:p>
            <a:pPr algn="l" indent="0" marL="0">
              <a:lnSpc>
                <a:spcPct val="83500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chemeClr val="accent3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THE SHAKE-OUT</a:t>
            </a:r>
            <a:endParaRPr lang="en-US" sz="1950" dirty="0"/>
          </a:p>
          <a:p>
            <a:pPr algn="l" indent="0" marL="0">
              <a:lnSpc>
                <a:spcPct val="118600"/>
              </a:lnSpc>
              <a:buNone/>
            </a:pPr>
            <a:r>
              <a:rPr lang="en-US" sz="1088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Hanging off a jug mid-route, you rest with no idea when you have actually recovered.</a:t>
            </a:r>
            <a:endParaRPr lang="en-US" sz="1950" dirty="0"/>
          </a:p>
        </p:txBody>
      </p:sp>
      <p:sp>
        <p:nvSpPr>
          <p:cNvPr id="6" name="Card THE COST"/>
          <p:cNvSpPr/>
          <p:nvPr/>
        </p:nvSpPr>
        <p:spPr>
          <a:xfrm>
            <a:off x="6019770" y="2066910"/>
            <a:ext cx="2552730" cy="1285921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171450" tIns="180975" rIns="180975" bIns="19050" rtlCol="0" anchor="t"/>
          <a:lstStyle/>
          <a:p>
            <a:pPr algn="l" indent="0" marL="0">
              <a:lnSpc>
                <a:spcPct val="83500"/>
              </a:lnSpc>
              <a:spcAft>
                <a:spcPts val="750"/>
              </a:spcAft>
              <a:buNone/>
            </a:pPr>
            <a:r>
              <a:rPr lang="en-US" sz="1950" b="1" dirty="0">
                <a:solidFill>
                  <a:schemeClr val="accent4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THE COST</a:t>
            </a:r>
            <a:endParaRPr lang="en-US" sz="1950" dirty="0"/>
          </a:p>
          <a:p>
            <a:pPr algn="l" indent="0" marL="0">
              <a:lnSpc>
                <a:spcPct val="118600"/>
              </a:lnSpc>
              <a:buNone/>
            </a:pPr>
            <a:r>
              <a:rPr lang="en-US" sz="1088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Rest too little and you fall off the next move. Rest too long and you burn the session.</a:t>
            </a:r>
            <a:endParaRPr lang="en-US" sz="195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686221"/>
            <a:ext cx="800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600"/>
              </a:lnSpc>
              <a:buNone/>
            </a:pPr>
            <a:r>
              <a:rPr lang="en-US" sz="1650" b="1" dirty="0">
                <a:solidFill>
                  <a:schemeClr val="tx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Maps give drivers an ETA. Climbers get </a:t>
            </a:r>
            <a:pPr algn="l" indent="0" marL="0">
              <a:lnSpc>
                <a:spcPct val="100600"/>
              </a:lnSpc>
              <a:buNone/>
            </a:pPr>
            <a:r>
              <a:rPr lang="en-US" sz="1650" b="1" dirty="0">
                <a:solidFill>
                  <a:schemeClr val="accent4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guesswork.</a:t>
            </a:r>
            <a:endParaRPr lang="en-US" sz="1650" dirty="0"/>
          </a:p>
        </p:txBody>
      </p:sp>
      <p:sp>
        <p:nvSpPr>
          <p:cNvPr id="8" name="Text 0"/>
          <p:cNvSpPr/>
          <p:nvPr>
            <p:ph idx="102" type="body" hasCustomPrompt="1"/>
          </p:nvPr>
        </p:nvSpPr>
        <p:spPr>
          <a:xfrm>
            <a:off x="571500" y="4762470"/>
            <a:ext cx="619122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13" kern="0" dirty="0">
                <a:solidFill>
                  <a:srgbClr val="5663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CLYF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19970" y="4762470"/>
            <a:ext cx="952530" cy="133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636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1500" y="523860"/>
            <a:ext cx="8001000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8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71500" y="738195"/>
            <a:ext cx="8001000" cy="109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76900"/>
              </a:lnSpc>
              <a:buNone/>
            </a:pPr>
            <a:r>
              <a:rPr lang="en-US" sz="39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A FOREARM BATTERY</a:t>
            </a:r>
            <a:endParaRPr lang="en-US" sz="3900" dirty="0"/>
          </a:p>
          <a:p>
            <a:pPr algn="l" indent="0" marL="0">
              <a:lnSpc>
                <a:spcPct val="76900"/>
              </a:lnSpc>
              <a:buNone/>
            </a:pPr>
            <a:r>
              <a:rPr lang="en-US" sz="3900" b="1" dirty="0">
                <a:solidFill>
                  <a:schemeClr val="accent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WITH AN ETA.</a:t>
            </a:r>
            <a:endParaRPr lang="en-US" sz="3900" dirty="0"/>
          </a:p>
        </p:txBody>
      </p:sp>
      <p:sp>
        <p:nvSpPr>
          <p:cNvPr id="4" name="State GRIPPING"/>
          <p:cNvSpPr/>
          <p:nvPr/>
        </p:nvSpPr>
        <p:spPr>
          <a:xfrm>
            <a:off x="571500" y="1895460"/>
            <a:ext cx="3929085" cy="619140"/>
          </a:xfrm>
          <a:prstGeom prst="roundRect">
            <a:avLst>
              <a:gd name="adj" fmla="val 15389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171450" tIns="180975" rIns="180975" bIns="19050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2276490" y="1990740"/>
            <a:ext cx="2095530" cy="42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5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Effort above a sustainable level drains the battery.</a:t>
            </a:r>
            <a:endParaRPr lang="en-US" sz="1050" dirty="0"/>
          </a:p>
        </p:txBody>
      </p:sp>
      <p:sp>
        <p:nvSpPr>
          <p:cNvPr id="6" name="Chip GRIPPING"/>
          <p:cNvSpPr/>
          <p:nvPr/>
        </p:nvSpPr>
        <p:spPr>
          <a:xfrm>
            <a:off x="723930" y="2078797"/>
            <a:ext cx="990570" cy="252374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113" kern="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● GRIPPING</a:t>
            </a:r>
            <a:endParaRPr lang="en-US" sz="825" dirty="0"/>
          </a:p>
        </p:txBody>
      </p:sp>
      <p:sp>
        <p:nvSpPr>
          <p:cNvPr id="7" name="State RESTING"/>
          <p:cNvSpPr/>
          <p:nvPr/>
        </p:nvSpPr>
        <p:spPr>
          <a:xfrm>
            <a:off x="571500" y="2621310"/>
            <a:ext cx="3929085" cy="619140"/>
          </a:xfrm>
          <a:prstGeom prst="roundRect">
            <a:avLst>
              <a:gd name="adj" fmla="val 15389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171450" tIns="180975" rIns="180975" bIns="19050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2276490" y="2716500"/>
            <a:ext cx="2095530" cy="42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5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It recharges, with a countdown: </a:t>
            </a:r>
            <a:endParaRPr lang="en-US" sz="1050" dirty="0"/>
          </a:p>
          <a:p>
            <a:pPr algn="l" indent="0" marL="0">
              <a:lnSpc>
                <a:spcPct val="114500"/>
              </a:lnSpc>
              <a:buNone/>
            </a:pPr>
            <a:r>
              <a:rPr lang="en-US" sz="1050" b="1" dirty="0">
                <a:solidFill>
                  <a:schemeClr val="tx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“Ready in 12 s”.</a:t>
            </a:r>
            <a:endParaRPr lang="en-US" sz="1050" dirty="0"/>
          </a:p>
        </p:txBody>
      </p:sp>
      <p:sp>
        <p:nvSpPr>
          <p:cNvPr id="9" name="Chip RESTING"/>
          <p:cNvSpPr/>
          <p:nvPr/>
        </p:nvSpPr>
        <p:spPr>
          <a:xfrm>
            <a:off x="723930" y="2804648"/>
            <a:ext cx="914400" cy="252374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113" kern="0" dirty="0">
                <a:solidFill>
                  <a:schemeClr val="accent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● RESTING</a:t>
            </a:r>
            <a:endParaRPr lang="en-US" sz="825" dirty="0"/>
          </a:p>
        </p:txBody>
      </p:sp>
      <p:sp>
        <p:nvSpPr>
          <p:cNvPr id="10" name="State RELAX FULLY"/>
          <p:cNvSpPr/>
          <p:nvPr/>
        </p:nvSpPr>
        <p:spPr>
          <a:xfrm>
            <a:off x="571500" y="3347070"/>
            <a:ext cx="3929085" cy="619140"/>
          </a:xfrm>
          <a:prstGeom prst="roundRect">
            <a:avLst>
              <a:gd name="adj" fmla="val 15389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171450" tIns="180975" rIns="180975" bIns="19050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2276490" y="3442350"/>
            <a:ext cx="2095530" cy="42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5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EMG sees a tense forearm and slows the recharge.</a:t>
            </a:r>
            <a:endParaRPr lang="en-US" sz="1050" dirty="0"/>
          </a:p>
        </p:txBody>
      </p:sp>
      <p:sp>
        <p:nvSpPr>
          <p:cNvPr id="12" name="Chip RELAX FULLY"/>
          <p:cNvSpPr/>
          <p:nvPr/>
        </p:nvSpPr>
        <p:spPr>
          <a:xfrm>
            <a:off x="723930" y="3530407"/>
            <a:ext cx="1223924" cy="252374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113" kern="0" dirty="0">
                <a:solidFill>
                  <a:schemeClr val="tx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● RELAX FULLY</a:t>
            </a:r>
            <a:endParaRPr lang="en-US" sz="825" dirty="0"/>
          </a:p>
        </p:txBody>
      </p:sp>
      <p:sp>
        <p:nvSpPr>
          <p:cNvPr id="13" name="State READY"/>
          <p:cNvSpPr/>
          <p:nvPr/>
        </p:nvSpPr>
        <p:spPr>
          <a:xfrm>
            <a:off x="571500" y="4072920"/>
            <a:ext cx="3929085" cy="619140"/>
          </a:xfrm>
          <a:prstGeom prst="roundRect">
            <a:avLst>
              <a:gd name="adj" fmla="val 15389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171450" tIns="180975" rIns="180975" bIns="19050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2276490" y="4168110"/>
            <a:ext cx="2095530" cy="428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500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At 80% it glows and chimes: </a:t>
            </a:r>
            <a:pPr algn="l" indent="0" marL="0">
              <a:lnSpc>
                <a:spcPct val="114500"/>
              </a:lnSpc>
              <a:buNone/>
            </a:pPr>
            <a:r>
              <a:rPr lang="en-US" sz="1050" b="1" dirty="0">
                <a:solidFill>
                  <a:schemeClr val="tx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climb on.</a:t>
            </a:r>
            <a:endParaRPr lang="en-US" sz="1050" dirty="0"/>
          </a:p>
        </p:txBody>
      </p:sp>
      <p:sp>
        <p:nvSpPr>
          <p:cNvPr id="15" name="Chip READY"/>
          <p:cNvSpPr/>
          <p:nvPr/>
        </p:nvSpPr>
        <p:spPr>
          <a:xfrm>
            <a:off x="723930" y="4256258"/>
            <a:ext cx="761970" cy="252374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113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● READY</a:t>
            </a:r>
            <a:endParaRPr lang="en-US" sz="825" dirty="0"/>
          </a:p>
        </p:txBody>
      </p:sp>
      <p:pic>
        <p:nvPicPr>
          <p:cNvPr id="16" name="Battery FULL · 85" descr="Dashboard battery at 85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3976" y="1895460"/>
            <a:ext cx="3738524" cy="862005"/>
          </a:xfrm>
          <a:prstGeom prst="rect">
            <a:avLst/>
          </a:prstGeom>
        </p:spPr>
      </p:pic>
      <p:sp>
        <p:nvSpPr>
          <p:cNvPr id="17" name="Battery frame FULL · 85"/>
          <p:cNvSpPr/>
          <p:nvPr/>
        </p:nvSpPr>
        <p:spPr>
          <a:xfrm>
            <a:off x="4841108" y="1902592"/>
            <a:ext cx="3724260" cy="847740"/>
          </a:xfrm>
          <a:prstGeom prst="roundRect">
            <a:avLst>
              <a:gd name="adj" fmla="val 10398"/>
            </a:avLst>
          </a:prstGeom>
          <a:noFill/>
          <a:ln w="14351">
            <a:solidFill>
              <a:schemeClr val="accent1"/>
            </a:solidFill>
            <a:prstDash val="solid"/>
          </a:ln>
        </p:spPr>
      </p:sp>
      <p:sp>
        <p:nvSpPr>
          <p:cNvPr id="18" name="Battery label FULL · 85"/>
          <p:cNvSpPr/>
          <p:nvPr/>
        </p:nvSpPr>
        <p:spPr>
          <a:xfrm>
            <a:off x="4943521" y="2452695"/>
            <a:ext cx="876270" cy="214335"/>
          </a:xfrm>
          <a:prstGeom prst="roundRect">
            <a:avLst>
              <a:gd name="adj" fmla="val 22227"/>
            </a:avLst>
          </a:prstGeom>
          <a:solidFill>
            <a:schemeClr val="bg1">
              <a:alpha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113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· 85</a:t>
            </a:r>
            <a:endParaRPr lang="en-US" sz="825" dirty="0"/>
          </a:p>
        </p:txBody>
      </p:sp>
      <p:pic>
        <p:nvPicPr>
          <p:cNvPr id="19" name="Battery AFTER GRIPPING · 53" descr="Dashboard battery at 53% after gripp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976" y="2862255"/>
            <a:ext cx="3738524" cy="862005"/>
          </a:xfrm>
          <a:prstGeom prst="rect">
            <a:avLst/>
          </a:prstGeom>
        </p:spPr>
      </p:pic>
      <p:sp>
        <p:nvSpPr>
          <p:cNvPr id="20" name="Battery frame AFTER GRIPPING · 53"/>
          <p:cNvSpPr/>
          <p:nvPr/>
        </p:nvSpPr>
        <p:spPr>
          <a:xfrm>
            <a:off x="4841108" y="2869387"/>
            <a:ext cx="3724260" cy="847740"/>
          </a:xfrm>
          <a:prstGeom prst="roundRect">
            <a:avLst>
              <a:gd name="adj" fmla="val 10398"/>
            </a:avLst>
          </a:prstGeom>
          <a:noFill/>
          <a:ln w="14351">
            <a:solidFill>
              <a:schemeClr val="accent2"/>
            </a:solidFill>
            <a:prstDash val="solid"/>
          </a:ln>
        </p:spPr>
      </p:sp>
      <p:sp>
        <p:nvSpPr>
          <p:cNvPr id="21" name="Battery label AFTER GRIPPING · 53"/>
          <p:cNvSpPr/>
          <p:nvPr/>
        </p:nvSpPr>
        <p:spPr>
          <a:xfrm>
            <a:off x="4943521" y="3419490"/>
            <a:ext cx="1647840" cy="214335"/>
          </a:xfrm>
          <a:prstGeom prst="roundRect">
            <a:avLst>
              <a:gd name="adj" fmla="val 22227"/>
            </a:avLst>
          </a:prstGeom>
          <a:solidFill>
            <a:schemeClr val="bg1">
              <a:alpha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113" kern="0" dirty="0">
                <a:solidFill>
                  <a:schemeClr val="accent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AFTER GRIPPING · 53</a:t>
            </a:r>
            <a:endParaRPr lang="en-US" sz="825" dirty="0"/>
          </a:p>
        </p:txBody>
      </p:sp>
      <p:pic>
        <p:nvPicPr>
          <p:cNvPr id="22" name="Battery AFTER RESTING · 81 · READY" descr="Dashboard battery back at 81% after rest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976" y="3829050"/>
            <a:ext cx="3738524" cy="862005"/>
          </a:xfrm>
          <a:prstGeom prst="rect">
            <a:avLst/>
          </a:prstGeom>
        </p:spPr>
      </p:pic>
      <p:sp>
        <p:nvSpPr>
          <p:cNvPr id="23" name="Battery frame AFTER RESTING · 81 · READY"/>
          <p:cNvSpPr/>
          <p:nvPr/>
        </p:nvSpPr>
        <p:spPr>
          <a:xfrm>
            <a:off x="4841108" y="3836182"/>
            <a:ext cx="3724260" cy="847740"/>
          </a:xfrm>
          <a:prstGeom prst="roundRect">
            <a:avLst>
              <a:gd name="adj" fmla="val 10398"/>
            </a:avLst>
          </a:prstGeom>
          <a:noFill/>
          <a:ln w="14351">
            <a:solidFill>
              <a:schemeClr val="accent1"/>
            </a:solidFill>
            <a:prstDash val="solid"/>
          </a:ln>
        </p:spPr>
      </p:sp>
      <p:sp>
        <p:nvSpPr>
          <p:cNvPr id="24" name="Battery label AFTER RESTING · 81 · READY"/>
          <p:cNvSpPr/>
          <p:nvPr/>
        </p:nvSpPr>
        <p:spPr>
          <a:xfrm>
            <a:off x="4943521" y="4386285"/>
            <a:ext cx="2190720" cy="214335"/>
          </a:xfrm>
          <a:prstGeom prst="roundRect">
            <a:avLst>
              <a:gd name="adj" fmla="val 22227"/>
            </a:avLst>
          </a:prstGeom>
          <a:solidFill>
            <a:schemeClr val="bg1">
              <a:alpha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113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AFTER RESTING · 81 · READY</a:t>
            </a:r>
            <a:endParaRPr lang="en-US" sz="825" dirty="0"/>
          </a:p>
        </p:txBody>
      </p:sp>
      <p:sp>
        <p:nvSpPr>
          <p:cNvPr id="25" name="Text 0"/>
          <p:cNvSpPr/>
          <p:nvPr>
            <p:ph idx="102" type="body" hasCustomPrompt="1"/>
          </p:nvPr>
        </p:nvSpPr>
        <p:spPr>
          <a:xfrm>
            <a:off x="571500" y="4762470"/>
            <a:ext cx="619122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13" kern="0" dirty="0">
                <a:solidFill>
                  <a:srgbClr val="5663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CLYF · screenshots from the live dashboard during the demo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19970" y="4762470"/>
            <a:ext cx="952530" cy="133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636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1500" y="523860"/>
            <a:ext cx="8001000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8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 · ONE REAL SESSION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71500" y="738195"/>
            <a:ext cx="8001000" cy="109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76900"/>
              </a:lnSpc>
              <a:buNone/>
            </a:pPr>
            <a:r>
              <a:rPr lang="en-US" sz="39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GRIP DRAINS IT. </a:t>
            </a:r>
            <a:pPr algn="l" indent="0" marL="0">
              <a:lnSpc>
                <a:spcPct val="76900"/>
              </a:lnSpc>
              <a:buNone/>
            </a:pPr>
            <a:r>
              <a:rPr lang="en-US" sz="3900" b="1" dirty="0">
                <a:solidFill>
                  <a:schemeClr val="accent3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REST BRINGS IT BACK.</a:t>
            </a:r>
            <a:endParaRPr lang="en-US" sz="3900" dirty="0"/>
          </a:p>
        </p:txBody>
      </p:sp>
      <p:pic>
        <p:nvPicPr>
          <p:cNvPr id="4" name="Demo photo" descr="Wearing the sleeve and squeezing a grip trai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90620"/>
            <a:ext cx="1809780" cy="3219420"/>
          </a:xfrm>
          <a:prstGeom prst="rect">
            <a:avLst/>
          </a:prstGeom>
        </p:spPr>
      </p:pic>
      <p:sp>
        <p:nvSpPr>
          <p:cNvPr id="5" name="Demo photo frame"/>
          <p:cNvSpPr/>
          <p:nvPr/>
        </p:nvSpPr>
        <p:spPr>
          <a:xfrm>
            <a:off x="576255" y="1395374"/>
            <a:ext cx="1800271" cy="3209910"/>
          </a:xfrm>
          <a:prstGeom prst="roundRect">
            <a:avLst>
              <a:gd name="adj" fmla="val 6613"/>
            </a:avLst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" name="Band gripping 1"/>
          <p:cNvSpPr/>
          <p:nvPr/>
        </p:nvSpPr>
        <p:spPr>
          <a:xfrm>
            <a:off x="3704143" y="1579260"/>
            <a:ext cx="1231057" cy="2333640"/>
          </a:xfrm>
          <a:prstGeom prst="rect">
            <a:avLst/>
          </a:prstGeom>
          <a:solidFill>
            <a:schemeClr val="accent2">
              <a:alpha val="16000"/>
            </a:schemeClr>
          </a:solidFill>
          <a:ln/>
        </p:spPr>
      </p:sp>
      <p:sp>
        <p:nvSpPr>
          <p:cNvPr id="7" name="Band resting"/>
          <p:cNvSpPr/>
          <p:nvPr/>
        </p:nvSpPr>
        <p:spPr>
          <a:xfrm>
            <a:off x="4994544" y="1579260"/>
            <a:ext cx="2788371" cy="2333640"/>
          </a:xfrm>
          <a:prstGeom prst="rect">
            <a:avLst/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8" name="Band gripping 2"/>
          <p:cNvSpPr/>
          <p:nvPr/>
        </p:nvSpPr>
        <p:spPr>
          <a:xfrm>
            <a:off x="8168518" y="1579260"/>
            <a:ext cx="237287" cy="2333640"/>
          </a:xfrm>
          <a:prstGeom prst="rect">
            <a:avLst/>
          </a:prstGeom>
          <a:solidFill>
            <a:schemeClr val="accent2">
              <a:alpha val="16000"/>
            </a:schemeClr>
          </a:solidFill>
          <a:ln/>
        </p:spPr>
      </p:sp>
      <p:sp>
        <p:nvSpPr>
          <p:cNvPr id="9" name="Grid 40%"/>
          <p:cNvSpPr/>
          <p:nvPr/>
        </p:nvSpPr>
        <p:spPr>
          <a:xfrm>
            <a:off x="3214665" y="3912900"/>
            <a:ext cx="51911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62276" y="3841394"/>
            <a:ext cx="476220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5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40%</a:t>
            </a:r>
            <a:endParaRPr lang="en-US" sz="825" dirty="0"/>
          </a:p>
        </p:txBody>
      </p:sp>
      <p:sp>
        <p:nvSpPr>
          <p:cNvPr id="11" name="Grid 60%"/>
          <p:cNvSpPr/>
          <p:nvPr/>
        </p:nvSpPr>
        <p:spPr>
          <a:xfrm>
            <a:off x="3214665" y="3135020"/>
            <a:ext cx="51911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62276" y="3063514"/>
            <a:ext cx="476220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5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60%</a:t>
            </a:r>
            <a:endParaRPr lang="en-US" sz="825" dirty="0"/>
          </a:p>
        </p:txBody>
      </p:sp>
      <p:sp>
        <p:nvSpPr>
          <p:cNvPr id="13" name="Ready line 80%"/>
          <p:cNvSpPr/>
          <p:nvPr/>
        </p:nvSpPr>
        <p:spPr>
          <a:xfrm>
            <a:off x="3214665" y="2357140"/>
            <a:ext cx="5191140" cy="0"/>
          </a:xfrm>
          <a:prstGeom prst="line">
            <a:avLst/>
          </a:prstGeom>
          <a:noFill/>
          <a:ln w="14351">
            <a:solidFill>
              <a:schemeClr val="accent1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2662276" y="2285726"/>
            <a:ext cx="476220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5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80%</a:t>
            </a:r>
            <a:endParaRPr lang="en-US" sz="825" dirty="0"/>
          </a:p>
        </p:txBody>
      </p:sp>
      <p:sp>
        <p:nvSpPr>
          <p:cNvPr id="15" name="Grid 100%"/>
          <p:cNvSpPr/>
          <p:nvPr/>
        </p:nvSpPr>
        <p:spPr>
          <a:xfrm>
            <a:off x="3214665" y="1579260"/>
            <a:ext cx="51911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62276" y="1507846"/>
            <a:ext cx="476220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5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</a:t>
            </a:r>
            <a:endParaRPr lang="en-US" sz="825" dirty="0"/>
          </a:p>
        </p:txBody>
      </p:sp>
      <p:sp>
        <p:nvSpPr>
          <p:cNvPr id="17" name="Text 14"/>
          <p:cNvSpPr txBox="1"/>
          <p:nvPr/>
        </p:nvSpPr>
        <p:spPr>
          <a:xfrm>
            <a:off x="3421502" y="3995745"/>
            <a:ext cx="476220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s</a:t>
            </a:r>
            <a:endParaRPr lang="en-US" sz="825" dirty="0"/>
          </a:p>
        </p:txBody>
      </p:sp>
      <p:sp>
        <p:nvSpPr>
          <p:cNvPr id="18" name="Text 15"/>
          <p:cNvSpPr txBox="1"/>
          <p:nvPr/>
        </p:nvSpPr>
        <p:spPr>
          <a:xfrm>
            <a:off x="4904659" y="3995745"/>
            <a:ext cx="476220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s</a:t>
            </a:r>
            <a:endParaRPr lang="en-US" sz="825" dirty="0"/>
          </a:p>
        </p:txBody>
      </p:sp>
      <p:sp>
        <p:nvSpPr>
          <p:cNvPr id="19" name="Text 16"/>
          <p:cNvSpPr txBox="1"/>
          <p:nvPr/>
        </p:nvSpPr>
        <p:spPr>
          <a:xfrm>
            <a:off x="6387907" y="3995745"/>
            <a:ext cx="476220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s</a:t>
            </a:r>
            <a:endParaRPr lang="en-US" sz="825" dirty="0"/>
          </a:p>
        </p:txBody>
      </p:sp>
      <p:sp>
        <p:nvSpPr>
          <p:cNvPr id="20" name="Text 17"/>
          <p:cNvSpPr txBox="1"/>
          <p:nvPr/>
        </p:nvSpPr>
        <p:spPr>
          <a:xfrm>
            <a:off x="7871064" y="3995745"/>
            <a:ext cx="476220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 s</a:t>
            </a:r>
            <a:endParaRPr lang="en-US" sz="825" dirty="0"/>
          </a:p>
        </p:txBody>
      </p:sp>
      <p:sp>
        <p:nvSpPr>
          <p:cNvPr id="21" name="Battery area"/>
          <p:cNvSpPr/>
          <p:nvPr/>
        </p:nvSpPr>
        <p:spPr>
          <a:xfrm>
            <a:off x="3214665" y="2123785"/>
            <a:ext cx="5191140" cy="1789115"/>
          </a:xfrm>
          <a:custGeom>
            <a:avLst/>
            <a:gdLst/>
            <a:ahLst/>
            <a:cxnLst/>
            <a:rect l="l" t="t" r="r" b="b"/>
            <a:pathLst>
              <a:path w="5191140" h="1789115">
                <a:moveTo>
                  <a:pt x="0" y="1789115"/>
                </a:moveTo>
                <a:lnTo>
                  <a:pt x="0" y="116677"/>
                </a:lnTo>
                <a:lnTo>
                  <a:pt x="148316" y="77815"/>
                </a:lnTo>
                <a:lnTo>
                  <a:pt x="296631" y="38862"/>
                </a:lnTo>
                <a:lnTo>
                  <a:pt x="444947" y="0"/>
                </a:lnTo>
                <a:lnTo>
                  <a:pt x="593263" y="233355"/>
                </a:lnTo>
                <a:lnTo>
                  <a:pt x="741578" y="505663"/>
                </a:lnTo>
                <a:lnTo>
                  <a:pt x="889894" y="661203"/>
                </a:lnTo>
                <a:lnTo>
                  <a:pt x="1038210" y="855696"/>
                </a:lnTo>
                <a:lnTo>
                  <a:pt x="1186525" y="972373"/>
                </a:lnTo>
                <a:lnTo>
                  <a:pt x="1334841" y="1011235"/>
                </a:lnTo>
                <a:lnTo>
                  <a:pt x="1483157" y="1050097"/>
                </a:lnTo>
                <a:lnTo>
                  <a:pt x="1631472" y="1127912"/>
                </a:lnTo>
                <a:lnTo>
                  <a:pt x="1779788" y="1283452"/>
                </a:lnTo>
                <a:lnTo>
                  <a:pt x="1928104" y="1322405"/>
                </a:lnTo>
                <a:lnTo>
                  <a:pt x="2076420" y="1244590"/>
                </a:lnTo>
                <a:lnTo>
                  <a:pt x="2224735" y="1166774"/>
                </a:lnTo>
                <a:lnTo>
                  <a:pt x="2373051" y="1089050"/>
                </a:lnTo>
                <a:lnTo>
                  <a:pt x="2521367" y="1011235"/>
                </a:lnTo>
                <a:lnTo>
                  <a:pt x="2669682" y="933420"/>
                </a:lnTo>
                <a:lnTo>
                  <a:pt x="2817998" y="855696"/>
                </a:lnTo>
                <a:lnTo>
                  <a:pt x="2966314" y="777880"/>
                </a:lnTo>
                <a:lnTo>
                  <a:pt x="3114721" y="739018"/>
                </a:lnTo>
                <a:lnTo>
                  <a:pt x="3263036" y="661203"/>
                </a:lnTo>
                <a:lnTo>
                  <a:pt x="3411352" y="622341"/>
                </a:lnTo>
                <a:lnTo>
                  <a:pt x="3559668" y="544525"/>
                </a:lnTo>
                <a:lnTo>
                  <a:pt x="3707983" y="505663"/>
                </a:lnTo>
                <a:lnTo>
                  <a:pt x="3856299" y="427848"/>
                </a:lnTo>
                <a:lnTo>
                  <a:pt x="4004615" y="388894"/>
                </a:lnTo>
                <a:lnTo>
                  <a:pt x="4152930" y="350032"/>
                </a:lnTo>
                <a:lnTo>
                  <a:pt x="4301246" y="311170"/>
                </a:lnTo>
                <a:lnTo>
                  <a:pt x="4449562" y="272217"/>
                </a:lnTo>
                <a:lnTo>
                  <a:pt x="4597878" y="233355"/>
                </a:lnTo>
                <a:lnTo>
                  <a:pt x="4746193" y="194493"/>
                </a:lnTo>
                <a:lnTo>
                  <a:pt x="4894509" y="233355"/>
                </a:lnTo>
                <a:lnTo>
                  <a:pt x="5042825" y="466710"/>
                </a:lnTo>
                <a:lnTo>
                  <a:pt x="5191140" y="583387"/>
                </a:lnTo>
                <a:lnTo>
                  <a:pt x="5191140" y="1789115"/>
                </a:lnTo>
                <a:close/>
              </a:path>
            </a:pathLst>
          </a:custGeom>
          <a:solidFill>
            <a:schemeClr val="accent1">
              <a:alpha val="8000"/>
            </a:schemeClr>
          </a:solidFill>
          <a:ln/>
        </p:spPr>
      </p:sp>
      <p:sp>
        <p:nvSpPr>
          <p:cNvPr id="22" name="Battery line"/>
          <p:cNvSpPr/>
          <p:nvPr/>
        </p:nvSpPr>
        <p:spPr>
          <a:xfrm>
            <a:off x="3214665" y="2123785"/>
            <a:ext cx="5191140" cy="1322405"/>
          </a:xfrm>
          <a:custGeom>
            <a:avLst/>
            <a:gdLst/>
            <a:ahLst/>
            <a:cxnLst/>
            <a:rect l="l" t="t" r="r" b="b"/>
            <a:pathLst>
              <a:path w="5191140" h="1322405">
                <a:moveTo>
                  <a:pt x="0" y="116677"/>
                </a:moveTo>
                <a:lnTo>
                  <a:pt x="148316" y="77815"/>
                </a:lnTo>
                <a:lnTo>
                  <a:pt x="296631" y="38862"/>
                </a:lnTo>
                <a:lnTo>
                  <a:pt x="444947" y="0"/>
                </a:lnTo>
                <a:lnTo>
                  <a:pt x="593263" y="233355"/>
                </a:lnTo>
                <a:lnTo>
                  <a:pt x="741578" y="505663"/>
                </a:lnTo>
                <a:lnTo>
                  <a:pt x="889894" y="661203"/>
                </a:lnTo>
                <a:lnTo>
                  <a:pt x="1038210" y="855696"/>
                </a:lnTo>
                <a:lnTo>
                  <a:pt x="1186525" y="972373"/>
                </a:lnTo>
                <a:lnTo>
                  <a:pt x="1334841" y="1011235"/>
                </a:lnTo>
                <a:lnTo>
                  <a:pt x="1483157" y="1050097"/>
                </a:lnTo>
                <a:lnTo>
                  <a:pt x="1631472" y="1127912"/>
                </a:lnTo>
                <a:lnTo>
                  <a:pt x="1779788" y="1283452"/>
                </a:lnTo>
                <a:lnTo>
                  <a:pt x="1928104" y="1322405"/>
                </a:lnTo>
                <a:lnTo>
                  <a:pt x="2076420" y="1244590"/>
                </a:lnTo>
                <a:lnTo>
                  <a:pt x="2224735" y="1166774"/>
                </a:lnTo>
                <a:lnTo>
                  <a:pt x="2373051" y="1089050"/>
                </a:lnTo>
                <a:lnTo>
                  <a:pt x="2521367" y="1011235"/>
                </a:lnTo>
                <a:lnTo>
                  <a:pt x="2669682" y="933420"/>
                </a:lnTo>
                <a:lnTo>
                  <a:pt x="2817998" y="855696"/>
                </a:lnTo>
                <a:lnTo>
                  <a:pt x="2966314" y="777880"/>
                </a:lnTo>
                <a:lnTo>
                  <a:pt x="3114721" y="739018"/>
                </a:lnTo>
                <a:lnTo>
                  <a:pt x="3263036" y="661203"/>
                </a:lnTo>
                <a:lnTo>
                  <a:pt x="3411352" y="622341"/>
                </a:lnTo>
                <a:lnTo>
                  <a:pt x="3559668" y="544525"/>
                </a:lnTo>
                <a:lnTo>
                  <a:pt x="3707983" y="505663"/>
                </a:lnTo>
                <a:lnTo>
                  <a:pt x="3856299" y="427848"/>
                </a:lnTo>
                <a:lnTo>
                  <a:pt x="4004615" y="388894"/>
                </a:lnTo>
                <a:lnTo>
                  <a:pt x="4152930" y="350032"/>
                </a:lnTo>
                <a:lnTo>
                  <a:pt x="4301246" y="311170"/>
                </a:lnTo>
                <a:lnTo>
                  <a:pt x="4449562" y="272217"/>
                </a:lnTo>
                <a:lnTo>
                  <a:pt x="4597878" y="233355"/>
                </a:lnTo>
                <a:lnTo>
                  <a:pt x="4746193" y="194493"/>
                </a:lnTo>
                <a:lnTo>
                  <a:pt x="4894509" y="233355"/>
                </a:lnTo>
                <a:lnTo>
                  <a:pt x="5042825" y="466710"/>
                </a:lnTo>
                <a:lnTo>
                  <a:pt x="5191140" y="583387"/>
                </a:lnTo>
              </a:path>
            </a:pathLst>
          </a:custGeom>
          <a:noFill/>
          <a:ln w="23876">
            <a:solidFill>
              <a:schemeClr val="tx1"/>
            </a:solidFill>
            <a:prstDash val="solid"/>
          </a:ln>
        </p:spPr>
      </p:sp>
      <p:sp>
        <p:nvSpPr>
          <p:cNvPr id="23" name="Reading 17s"/>
          <p:cNvSpPr/>
          <p:nvPr/>
        </p:nvSpPr>
        <p:spPr>
          <a:xfrm>
            <a:off x="3186135" y="2211842"/>
            <a:ext cx="57150" cy="5715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Reading 18s"/>
          <p:cNvSpPr/>
          <p:nvPr/>
        </p:nvSpPr>
        <p:spPr>
          <a:xfrm>
            <a:off x="3334451" y="2172980"/>
            <a:ext cx="57150" cy="5715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Reading 19s"/>
          <p:cNvSpPr/>
          <p:nvPr/>
        </p:nvSpPr>
        <p:spPr>
          <a:xfrm>
            <a:off x="3482767" y="2134118"/>
            <a:ext cx="57150" cy="5715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Reading 20s"/>
          <p:cNvSpPr/>
          <p:nvPr/>
        </p:nvSpPr>
        <p:spPr>
          <a:xfrm>
            <a:off x="3631082" y="2095165"/>
            <a:ext cx="57150" cy="5715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Reading 21s"/>
          <p:cNvSpPr/>
          <p:nvPr/>
        </p:nvSpPr>
        <p:spPr>
          <a:xfrm>
            <a:off x="3779398" y="2328520"/>
            <a:ext cx="57150" cy="5715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Reading 22s"/>
          <p:cNvSpPr/>
          <p:nvPr/>
        </p:nvSpPr>
        <p:spPr>
          <a:xfrm>
            <a:off x="3927714" y="2600828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Reading 23s"/>
          <p:cNvSpPr/>
          <p:nvPr/>
        </p:nvSpPr>
        <p:spPr>
          <a:xfrm>
            <a:off x="4076029" y="2756367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Reading 24s"/>
          <p:cNvSpPr/>
          <p:nvPr/>
        </p:nvSpPr>
        <p:spPr>
          <a:xfrm>
            <a:off x="4224345" y="2950860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Reading 25s"/>
          <p:cNvSpPr/>
          <p:nvPr/>
        </p:nvSpPr>
        <p:spPr>
          <a:xfrm>
            <a:off x="4372661" y="3067538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Reading 26s"/>
          <p:cNvSpPr/>
          <p:nvPr/>
        </p:nvSpPr>
        <p:spPr>
          <a:xfrm>
            <a:off x="4520976" y="3106400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Reading 27s"/>
          <p:cNvSpPr/>
          <p:nvPr/>
        </p:nvSpPr>
        <p:spPr>
          <a:xfrm>
            <a:off x="4669292" y="3145353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Reading 28s"/>
          <p:cNvSpPr/>
          <p:nvPr/>
        </p:nvSpPr>
        <p:spPr>
          <a:xfrm>
            <a:off x="4817608" y="3223077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5" name="Reading 29s"/>
          <p:cNvSpPr/>
          <p:nvPr/>
        </p:nvSpPr>
        <p:spPr>
          <a:xfrm>
            <a:off x="4965924" y="3378708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Reading 30s"/>
          <p:cNvSpPr/>
          <p:nvPr/>
        </p:nvSpPr>
        <p:spPr>
          <a:xfrm>
            <a:off x="5114239" y="3417570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7" name="Reading 31s"/>
          <p:cNvSpPr/>
          <p:nvPr/>
        </p:nvSpPr>
        <p:spPr>
          <a:xfrm>
            <a:off x="5262555" y="3339755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8" name="Reading 32s"/>
          <p:cNvSpPr/>
          <p:nvPr/>
        </p:nvSpPr>
        <p:spPr>
          <a:xfrm>
            <a:off x="5410871" y="3262031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Reading 33s"/>
          <p:cNvSpPr/>
          <p:nvPr/>
        </p:nvSpPr>
        <p:spPr>
          <a:xfrm>
            <a:off x="5559186" y="3184215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0" name="Reading 34s"/>
          <p:cNvSpPr/>
          <p:nvPr/>
        </p:nvSpPr>
        <p:spPr>
          <a:xfrm>
            <a:off x="5707502" y="3106400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1" name="Reading 35s"/>
          <p:cNvSpPr/>
          <p:nvPr/>
        </p:nvSpPr>
        <p:spPr>
          <a:xfrm>
            <a:off x="5855818" y="3028676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Reading 36s"/>
          <p:cNvSpPr/>
          <p:nvPr/>
        </p:nvSpPr>
        <p:spPr>
          <a:xfrm>
            <a:off x="6004133" y="2950860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3" name="Reading 37s"/>
          <p:cNvSpPr/>
          <p:nvPr/>
        </p:nvSpPr>
        <p:spPr>
          <a:xfrm>
            <a:off x="6152449" y="2873045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4" name="Reading 38s"/>
          <p:cNvSpPr/>
          <p:nvPr/>
        </p:nvSpPr>
        <p:spPr>
          <a:xfrm>
            <a:off x="6300765" y="2834183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5" name="Reading 39s"/>
          <p:cNvSpPr/>
          <p:nvPr/>
        </p:nvSpPr>
        <p:spPr>
          <a:xfrm>
            <a:off x="6449080" y="2756367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6" name="Reading 40s"/>
          <p:cNvSpPr/>
          <p:nvPr/>
        </p:nvSpPr>
        <p:spPr>
          <a:xfrm>
            <a:off x="6597396" y="2717505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7" name="Reading 41s"/>
          <p:cNvSpPr/>
          <p:nvPr/>
        </p:nvSpPr>
        <p:spPr>
          <a:xfrm>
            <a:off x="6745712" y="2639690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8" name="Reading 42s"/>
          <p:cNvSpPr/>
          <p:nvPr/>
        </p:nvSpPr>
        <p:spPr>
          <a:xfrm>
            <a:off x="6894027" y="2600828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9" name="Reading 43s"/>
          <p:cNvSpPr/>
          <p:nvPr/>
        </p:nvSpPr>
        <p:spPr>
          <a:xfrm>
            <a:off x="7042343" y="2523012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0" name="Reading 44s"/>
          <p:cNvSpPr/>
          <p:nvPr/>
        </p:nvSpPr>
        <p:spPr>
          <a:xfrm>
            <a:off x="7190659" y="2484150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1" name="Reading 45s"/>
          <p:cNvSpPr/>
          <p:nvPr/>
        </p:nvSpPr>
        <p:spPr>
          <a:xfrm>
            <a:off x="7338974" y="2445197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2" name="Reading 46s"/>
          <p:cNvSpPr/>
          <p:nvPr/>
        </p:nvSpPr>
        <p:spPr>
          <a:xfrm>
            <a:off x="7487290" y="2406335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3" name="Reading 47s"/>
          <p:cNvSpPr/>
          <p:nvPr/>
        </p:nvSpPr>
        <p:spPr>
          <a:xfrm>
            <a:off x="7635606" y="2367473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4" name="Reading 48s"/>
          <p:cNvSpPr/>
          <p:nvPr/>
        </p:nvSpPr>
        <p:spPr>
          <a:xfrm>
            <a:off x="7783921" y="2328520"/>
            <a:ext cx="57150" cy="5715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5" name="Reading 49s"/>
          <p:cNvSpPr/>
          <p:nvPr/>
        </p:nvSpPr>
        <p:spPr>
          <a:xfrm>
            <a:off x="7932329" y="2289658"/>
            <a:ext cx="57150" cy="5715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6" name="Reading 50s"/>
          <p:cNvSpPr/>
          <p:nvPr/>
        </p:nvSpPr>
        <p:spPr>
          <a:xfrm>
            <a:off x="8080644" y="2328520"/>
            <a:ext cx="57150" cy="5715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7" name="Reading 51s"/>
          <p:cNvSpPr/>
          <p:nvPr/>
        </p:nvSpPr>
        <p:spPr>
          <a:xfrm>
            <a:off x="8228960" y="2561874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8" name="Reading 52s"/>
          <p:cNvSpPr/>
          <p:nvPr/>
        </p:nvSpPr>
        <p:spPr>
          <a:xfrm>
            <a:off x="8377276" y="2678552"/>
            <a:ext cx="57150" cy="5715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3326953" y="1788018"/>
            <a:ext cx="200025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chemeClr val="accent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Grip: 86 → 52 in 10 s</a:t>
            </a:r>
            <a:endParaRPr lang="en-US" sz="1125" dirty="0"/>
          </a:p>
        </p:txBody>
      </p:sp>
      <p:sp>
        <p:nvSpPr>
          <p:cNvPr id="60" name="Text 57"/>
          <p:cNvSpPr txBox="1"/>
          <p:nvPr/>
        </p:nvSpPr>
        <p:spPr>
          <a:xfrm>
            <a:off x="5355732" y="1982511"/>
            <a:ext cx="209553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chemeClr val="accent3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Rest: back to 80 in 18 s</a:t>
            </a:r>
            <a:endParaRPr lang="en-US" sz="1125" dirty="0"/>
          </a:p>
        </p:txBody>
      </p:sp>
      <p:sp>
        <p:nvSpPr>
          <p:cNvPr id="61" name="Text 58"/>
          <p:cNvSpPr txBox="1"/>
          <p:nvPr/>
        </p:nvSpPr>
        <p:spPr>
          <a:xfrm>
            <a:off x="7579827" y="2011040"/>
            <a:ext cx="7619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chemeClr val="accent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READY</a:t>
            </a:r>
            <a:endParaRPr lang="en-US" sz="1125" dirty="0"/>
          </a:p>
        </p:txBody>
      </p:sp>
      <p:sp>
        <p:nvSpPr>
          <p:cNvPr id="62" name="Legend gripping"/>
          <p:cNvSpPr/>
          <p:nvPr/>
        </p:nvSpPr>
        <p:spPr>
          <a:xfrm>
            <a:off x="2714671" y="4370100"/>
            <a:ext cx="123810" cy="76170"/>
          </a:xfrm>
          <a:prstGeom prst="roundRect">
            <a:avLst>
              <a:gd name="adj" fmla="val 24970"/>
            </a:avLst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2886121" y="4329135"/>
            <a:ext cx="52386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dirty="0">
                <a:solidFill>
                  <a:schemeClr val="accent5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gripping</a:t>
            </a:r>
            <a:endParaRPr lang="en-US" sz="825" dirty="0"/>
          </a:p>
        </p:txBody>
      </p:sp>
      <p:sp>
        <p:nvSpPr>
          <p:cNvPr id="64" name="Legend resting"/>
          <p:cNvSpPr/>
          <p:nvPr/>
        </p:nvSpPr>
        <p:spPr>
          <a:xfrm>
            <a:off x="3443265" y="4370100"/>
            <a:ext cx="123810" cy="76170"/>
          </a:xfrm>
          <a:prstGeom prst="roundRect">
            <a:avLst>
              <a:gd name="adj" fmla="val 24970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3614715" y="4329135"/>
            <a:ext cx="47622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dirty="0">
                <a:solidFill>
                  <a:schemeClr val="accent5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resting</a:t>
            </a:r>
            <a:endParaRPr lang="en-US" sz="825" dirty="0"/>
          </a:p>
        </p:txBody>
      </p:sp>
      <p:sp>
        <p:nvSpPr>
          <p:cNvPr id="66" name="Legend ready"/>
          <p:cNvSpPr/>
          <p:nvPr/>
        </p:nvSpPr>
        <p:spPr>
          <a:xfrm>
            <a:off x="4110045" y="4395795"/>
            <a:ext cx="142921" cy="0"/>
          </a:xfrm>
          <a:prstGeom prst="line">
            <a:avLst/>
          </a:prstGeom>
          <a:noFill/>
          <a:ln w="14351">
            <a:solidFill>
              <a:schemeClr val="accent1"/>
            </a:solidFill>
            <a:prstDash val="dash"/>
          </a:ln>
        </p:spPr>
      </p:sp>
      <p:sp>
        <p:nvSpPr>
          <p:cNvPr id="67" name="Text 64"/>
          <p:cNvSpPr txBox="1"/>
          <p:nvPr/>
        </p:nvSpPr>
        <p:spPr>
          <a:xfrm>
            <a:off x="4300515" y="4329135"/>
            <a:ext cx="85725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dirty="0">
                <a:solidFill>
                  <a:schemeClr val="accent5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ready line, 80%</a:t>
            </a:r>
            <a:endParaRPr lang="en-US" sz="825" dirty="0"/>
          </a:p>
        </p:txBody>
      </p:sp>
      <p:sp>
        <p:nvSpPr>
          <p:cNvPr id="68" name="Text 65"/>
          <p:cNvSpPr txBox="1"/>
          <p:nvPr/>
        </p:nvSpPr>
        <p:spPr>
          <a:xfrm>
            <a:off x="5191140" y="4329135"/>
            <a:ext cx="266703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dirty="0">
                <a:solidFill>
                  <a:schemeClr val="accent5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battery read off the dashboard, once per second</a:t>
            </a:r>
            <a:endParaRPr lang="en-US" sz="825" dirty="0"/>
          </a:p>
        </p:txBody>
      </p:sp>
      <p:sp>
        <p:nvSpPr>
          <p:cNvPr id="69" name="Text 0"/>
          <p:cNvSpPr/>
          <p:nvPr>
            <p:ph idx="102" type="body" hasCustomPrompt="1"/>
          </p:nvPr>
        </p:nvSpPr>
        <p:spPr>
          <a:xfrm>
            <a:off x="571500" y="4762470"/>
            <a:ext cx="619122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13" kern="0" dirty="0">
                <a:solidFill>
                  <a:srgbClr val="5663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CLYF · full 60 s video on Devpost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19970" y="4762470"/>
            <a:ext cx="952530" cy="133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636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1500" y="523860"/>
            <a:ext cx="8001000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8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WE BUILT IT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71500" y="738195"/>
            <a:ext cx="8001000" cy="109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76900"/>
              </a:lnSpc>
              <a:buNone/>
            </a:pPr>
            <a:r>
              <a:rPr lang="en-US" sz="39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FROM MUSCLE TO MINUTES.</a:t>
            </a:r>
            <a:endParaRPr lang="en-US" sz="3900" dirty="0"/>
          </a:p>
        </p:txBody>
      </p:sp>
      <p:sp>
        <p:nvSpPr>
          <p:cNvPr id="4" name="Stage THE SLEEVE"/>
          <p:cNvSpPr/>
          <p:nvPr/>
        </p:nvSpPr>
        <p:spPr>
          <a:xfrm>
            <a:off x="571500" y="1519276"/>
            <a:ext cx="1866930" cy="18097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171450" tIns="180975" rIns="180975" bIns="19050" rtlCol="0" anchor="t"/>
          <a:lstStyle/>
          <a:p>
            <a:pPr algn="l" indent="0" marL="0">
              <a:lnSpc>
                <a:spcPct val="100000"/>
              </a:lnSpc>
              <a:spcAft>
                <a:spcPts val="525"/>
              </a:spcAft>
              <a:buNone/>
            </a:pPr>
            <a:r>
              <a:rPr lang="en-US" sz="825" b="1" spc="15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SENSE</a:t>
            </a:r>
            <a:endParaRPr lang="en-US" sz="825" dirty="0"/>
          </a:p>
          <a:p>
            <a:pPr algn="l" indent="0" marL="0">
              <a:lnSpc>
                <a:spcPct val="83500"/>
              </a:lnSpc>
              <a:spcAft>
                <a:spcPts val="675"/>
              </a:spcAft>
              <a:buNone/>
            </a:pPr>
            <a:r>
              <a:rPr lang="en-US" sz="1875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THE SLEEVE</a:t>
            </a:r>
            <a:endParaRPr lang="en-US" sz="825" dirty="0"/>
          </a:p>
          <a:p>
            <a:pPr algn="l" indent="0" marL="0">
              <a:lnSpc>
                <a:spcPct val="118600"/>
              </a:lnSpc>
              <a:spcAft>
                <a:spcPts val="675"/>
              </a:spcAft>
              <a:buNone/>
            </a:pPr>
            <a:r>
              <a:rPr lang="en-US" sz="938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Surface EMG on the finger flexors, plus a force sensor on the hold.</a:t>
            </a:r>
            <a:endParaRPr lang="en-US" sz="825" dirty="0"/>
          </a:p>
          <a:p>
            <a:pPr algn="l" indent="0" marL="0">
              <a:lnSpc>
                <a:spcPct val="121200"/>
              </a:lnSpc>
              <a:buNone/>
            </a:pPr>
            <a:r>
              <a:rPr lang="en-US" sz="7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MyoWare 2.0 + cable shield</a:t>
            </a:r>
            <a:endParaRPr lang="en-US" sz="825" dirty="0"/>
          </a:p>
          <a:p>
            <a:pPr algn="l" indent="0" marL="0">
              <a:lnSpc>
                <a:spcPct val="121200"/>
              </a:lnSpc>
              <a:buNone/>
            </a:pPr>
            <a:r>
              <a:rPr lang="en-US" sz="7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FSR, 4 mm</a:t>
            </a:r>
            <a:endParaRPr lang="en-US" sz="825" dirty="0"/>
          </a:p>
        </p:txBody>
      </p:sp>
      <p:sp>
        <p:nvSpPr>
          <p:cNvPr id="5" name="Arrow 1"/>
          <p:cNvSpPr/>
          <p:nvPr/>
        </p:nvSpPr>
        <p:spPr>
          <a:xfrm rot="5400000">
            <a:off x="2443185" y="2376526"/>
            <a:ext cx="123810" cy="95280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6" name="Stage ARDUINO UNO Q"/>
          <p:cNvSpPr/>
          <p:nvPr/>
        </p:nvSpPr>
        <p:spPr>
          <a:xfrm>
            <a:off x="2571750" y="1519276"/>
            <a:ext cx="1866930" cy="18097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171450" tIns="180975" rIns="180975" bIns="19050" rtlCol="0" anchor="t"/>
          <a:lstStyle/>
          <a:p>
            <a:pPr algn="l" indent="0" marL="0">
              <a:lnSpc>
                <a:spcPct val="100000"/>
              </a:lnSpc>
              <a:spcAft>
                <a:spcPts val="525"/>
              </a:spcAft>
              <a:buNone/>
            </a:pPr>
            <a:r>
              <a:rPr lang="en-US" sz="825" b="1" spc="15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SAMPLE</a:t>
            </a:r>
            <a:endParaRPr lang="en-US" sz="825" dirty="0"/>
          </a:p>
          <a:p>
            <a:pPr algn="l" indent="0" marL="0">
              <a:lnSpc>
                <a:spcPct val="83500"/>
              </a:lnSpc>
              <a:spcAft>
                <a:spcPts val="675"/>
              </a:spcAft>
              <a:buNone/>
            </a:pPr>
            <a:r>
              <a:rPr lang="en-US" sz="1875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ARDUINO UNO Q</a:t>
            </a:r>
            <a:endParaRPr lang="en-US" sz="825" dirty="0"/>
          </a:p>
          <a:p>
            <a:pPr algn="l" indent="0" marL="0">
              <a:lnSpc>
                <a:spcPct val="118600"/>
              </a:lnSpc>
              <a:spcAft>
                <a:spcPts val="675"/>
              </a:spcAft>
              <a:buNone/>
            </a:pPr>
            <a:r>
              <a:rPr lang="en-US" sz="938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The STM32 reads both channels on a fixed clock and streams every sample.</a:t>
            </a:r>
            <a:endParaRPr lang="en-US" sz="825" dirty="0"/>
          </a:p>
          <a:p>
            <a:pPr algn="l" indent="0" marL="0">
              <a:lnSpc>
                <a:spcPct val="121200"/>
              </a:lnSpc>
              <a:buNone/>
            </a:pPr>
            <a:r>
              <a:rPr lang="en-US" sz="7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 Hz · 12-bit ADC</a:t>
            </a:r>
            <a:endParaRPr lang="en-US" sz="825" dirty="0"/>
          </a:p>
          <a:p>
            <a:pPr algn="l" indent="0" marL="0">
              <a:lnSpc>
                <a:spcPct val="121200"/>
              </a:lnSpc>
              <a:buNone/>
            </a:pPr>
            <a:r>
              <a:rPr lang="en-US" sz="7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dropped samples</a:t>
            </a:r>
            <a:endParaRPr lang="en-US" sz="825" dirty="0"/>
          </a:p>
        </p:txBody>
      </p:sp>
      <p:sp>
        <p:nvSpPr>
          <p:cNvPr id="7" name="Arrow 2"/>
          <p:cNvSpPr/>
          <p:nvPr/>
        </p:nvSpPr>
        <p:spPr>
          <a:xfrm rot="5400000">
            <a:off x="4443435" y="2376526"/>
            <a:ext cx="123810" cy="95280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8" name="Stage LINUX SIDE"/>
          <p:cNvSpPr/>
          <p:nvPr/>
        </p:nvSpPr>
        <p:spPr>
          <a:xfrm>
            <a:off x="4572000" y="1519276"/>
            <a:ext cx="1866930" cy="18097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171450" tIns="180975" rIns="180975" bIns="19050" rtlCol="0" anchor="t"/>
          <a:lstStyle/>
          <a:p>
            <a:pPr algn="l" indent="0" marL="0">
              <a:lnSpc>
                <a:spcPct val="100000"/>
              </a:lnSpc>
              <a:spcAft>
                <a:spcPts val="525"/>
              </a:spcAft>
              <a:buNone/>
            </a:pPr>
            <a:r>
              <a:rPr lang="en-US" sz="825" b="1" spc="15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CLEAN</a:t>
            </a:r>
            <a:endParaRPr lang="en-US" sz="825" dirty="0"/>
          </a:p>
          <a:p>
            <a:pPr algn="l" indent="0" marL="0">
              <a:lnSpc>
                <a:spcPct val="83500"/>
              </a:lnSpc>
              <a:spcAft>
                <a:spcPts val="675"/>
              </a:spcAft>
              <a:buNone/>
            </a:pPr>
            <a:r>
              <a:rPr lang="en-US" sz="1875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LINUX SIDE</a:t>
            </a:r>
            <a:endParaRPr lang="en-US" sz="825" dirty="0"/>
          </a:p>
          <a:p>
            <a:pPr algn="l" indent="0" marL="0">
              <a:lnSpc>
                <a:spcPct val="118600"/>
              </a:lnSpc>
              <a:spcAft>
                <a:spcPts val="675"/>
              </a:spcAft>
              <a:buNone/>
            </a:pPr>
            <a:r>
              <a:rPr lang="en-US" sz="938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Python on the board relays to the laptop over USB. No Wi-Fi needed.</a:t>
            </a:r>
            <a:endParaRPr lang="en-US" sz="825" dirty="0"/>
          </a:p>
          <a:p>
            <a:pPr algn="l" indent="0" marL="0">
              <a:lnSpc>
                <a:spcPct val="121200"/>
              </a:lnSpc>
              <a:buNone/>
            </a:pPr>
            <a:r>
              <a:rPr lang="en-US" sz="7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Bridge RPC · Socket.IO</a:t>
            </a:r>
            <a:endParaRPr lang="en-US" sz="825" dirty="0"/>
          </a:p>
          <a:p>
            <a:pPr algn="l" indent="0" marL="0">
              <a:lnSpc>
                <a:spcPct val="121200"/>
              </a:lnSpc>
              <a:buNone/>
            </a:pPr>
            <a:r>
              <a:rPr lang="en-US" sz="7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ADB port forward</a:t>
            </a:r>
            <a:endParaRPr lang="en-US" sz="825" dirty="0"/>
          </a:p>
        </p:txBody>
      </p:sp>
      <p:sp>
        <p:nvSpPr>
          <p:cNvPr id="9" name="Arrow 3"/>
          <p:cNvSpPr/>
          <p:nvPr/>
        </p:nvSpPr>
        <p:spPr>
          <a:xfrm rot="5400000">
            <a:off x="6443685" y="2376526"/>
            <a:ext cx="123810" cy="95280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10" name="Stage DASHBOARD"/>
          <p:cNvSpPr/>
          <p:nvPr/>
        </p:nvSpPr>
        <p:spPr>
          <a:xfrm>
            <a:off x="6572250" y="1519276"/>
            <a:ext cx="1866930" cy="18097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171450" tIns="180975" rIns="180975" bIns="19050" rtlCol="0" anchor="t"/>
          <a:lstStyle/>
          <a:p>
            <a:pPr algn="l" indent="0" marL="0">
              <a:lnSpc>
                <a:spcPct val="100000"/>
              </a:lnSpc>
              <a:spcAft>
                <a:spcPts val="525"/>
              </a:spcAft>
              <a:buNone/>
            </a:pPr>
            <a:r>
              <a:rPr lang="en-US" sz="825" b="1" spc="150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NAVIGATE</a:t>
            </a:r>
            <a:endParaRPr lang="en-US" sz="825" dirty="0"/>
          </a:p>
          <a:p>
            <a:pPr algn="l" indent="0" marL="0">
              <a:lnSpc>
                <a:spcPct val="83500"/>
              </a:lnSpc>
              <a:spcAft>
                <a:spcPts val="675"/>
              </a:spcAft>
              <a:buNone/>
            </a:pPr>
            <a:r>
              <a:rPr lang="en-US" sz="1875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DASHBOARD</a:t>
            </a:r>
            <a:endParaRPr lang="en-US" sz="825" dirty="0"/>
          </a:p>
          <a:p>
            <a:pPr algn="l" indent="0" marL="0">
              <a:lnSpc>
                <a:spcPct val="118600"/>
              </a:lnSpc>
              <a:spcAft>
                <a:spcPts val="675"/>
              </a:spcAft>
              <a:buNone/>
            </a:pPr>
            <a:r>
              <a:rPr lang="en-US" sz="938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Auto-calibrated %MVC, bad-signal detection, and the battery model.</a:t>
            </a:r>
            <a:endParaRPr lang="en-US" sz="825" dirty="0"/>
          </a:p>
          <a:p>
            <a:pPr algn="l" indent="0" marL="0">
              <a:lnSpc>
                <a:spcPct val="121200"/>
              </a:lnSpc>
              <a:buNone/>
            </a:pPr>
            <a:r>
              <a:rPr lang="en-US" sz="7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JavaScript · Canvas</a:t>
            </a:r>
            <a:endParaRPr lang="en-US" sz="825" dirty="0"/>
          </a:p>
          <a:p>
            <a:pPr algn="l" indent="0" marL="0">
              <a:lnSpc>
                <a:spcPct val="121200"/>
              </a:lnSpc>
              <a:buNone/>
            </a:pPr>
            <a:r>
              <a:rPr lang="en-US" sz="750" dirty="0">
                <a:solidFill>
                  <a:schemeClr val="accent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ready at 80% · τ = 20 s</a:t>
            </a:r>
            <a:endParaRPr lang="en-US" sz="825" dirty="0"/>
          </a:p>
        </p:txBody>
      </p:sp>
      <p:sp>
        <p:nvSpPr>
          <p:cNvPr id="11" name="Stack Arduino UNO Q"/>
          <p:cNvSpPr/>
          <p:nvPr/>
        </p:nvSpPr>
        <p:spPr>
          <a:xfrm>
            <a:off x="571500" y="3548055"/>
            <a:ext cx="1090605" cy="271485"/>
          </a:xfrm>
          <a:prstGeom prst="roundRect">
            <a:avLst>
              <a:gd name="adj" fmla="val 21051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38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Arduino UNO Q</a:t>
            </a:r>
            <a:endParaRPr lang="en-US" sz="825" dirty="0"/>
          </a:p>
        </p:txBody>
      </p:sp>
      <p:sp>
        <p:nvSpPr>
          <p:cNvPr id="12" name="Stack STM32 sketch"/>
          <p:cNvSpPr/>
          <p:nvPr/>
        </p:nvSpPr>
        <p:spPr>
          <a:xfrm>
            <a:off x="1728765" y="3548055"/>
            <a:ext cx="1019190" cy="271485"/>
          </a:xfrm>
          <a:prstGeom prst="roundRect">
            <a:avLst>
              <a:gd name="adj" fmla="val 21051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38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STM32 sketch</a:t>
            </a:r>
            <a:endParaRPr lang="en-US" sz="825" dirty="0"/>
          </a:p>
        </p:txBody>
      </p:sp>
      <p:sp>
        <p:nvSpPr>
          <p:cNvPr id="13" name="Stack MyoWare 2.0"/>
          <p:cNvSpPr/>
          <p:nvPr/>
        </p:nvSpPr>
        <p:spPr>
          <a:xfrm>
            <a:off x="2814615" y="3548055"/>
            <a:ext cx="952530" cy="271485"/>
          </a:xfrm>
          <a:prstGeom prst="roundRect">
            <a:avLst>
              <a:gd name="adj" fmla="val 21051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38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MyoWare 2.0</a:t>
            </a:r>
            <a:endParaRPr lang="en-US" sz="825" dirty="0"/>
          </a:p>
        </p:txBody>
      </p:sp>
      <p:sp>
        <p:nvSpPr>
          <p:cNvPr id="14" name="Stack FSR 400"/>
          <p:cNvSpPr/>
          <p:nvPr/>
        </p:nvSpPr>
        <p:spPr>
          <a:xfrm>
            <a:off x="3833805" y="3548055"/>
            <a:ext cx="681045" cy="271485"/>
          </a:xfrm>
          <a:prstGeom prst="roundRect">
            <a:avLst>
              <a:gd name="adj" fmla="val 21051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38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FSR 400</a:t>
            </a:r>
            <a:endParaRPr lang="en-US" sz="825" dirty="0"/>
          </a:p>
        </p:txBody>
      </p:sp>
      <p:sp>
        <p:nvSpPr>
          <p:cNvPr id="15" name="Stack Python"/>
          <p:cNvSpPr/>
          <p:nvPr/>
        </p:nvSpPr>
        <p:spPr>
          <a:xfrm>
            <a:off x="4586265" y="3548055"/>
            <a:ext cx="614385" cy="271485"/>
          </a:xfrm>
          <a:prstGeom prst="roundRect">
            <a:avLst>
              <a:gd name="adj" fmla="val 21051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38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</a:t>
            </a:r>
            <a:endParaRPr lang="en-US" sz="825" dirty="0"/>
          </a:p>
        </p:txBody>
      </p:sp>
      <p:sp>
        <p:nvSpPr>
          <p:cNvPr id="16" name="Stack Socket.IO"/>
          <p:cNvSpPr/>
          <p:nvPr/>
        </p:nvSpPr>
        <p:spPr>
          <a:xfrm>
            <a:off x="5267310" y="3548055"/>
            <a:ext cx="819120" cy="271485"/>
          </a:xfrm>
          <a:prstGeom prst="roundRect">
            <a:avLst>
              <a:gd name="adj" fmla="val 21051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38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Socket.IO</a:t>
            </a:r>
            <a:endParaRPr lang="en-US" sz="825" dirty="0"/>
          </a:p>
        </p:txBody>
      </p:sp>
      <p:sp>
        <p:nvSpPr>
          <p:cNvPr id="17" name="Stack JavaScript"/>
          <p:cNvSpPr/>
          <p:nvPr/>
        </p:nvSpPr>
        <p:spPr>
          <a:xfrm>
            <a:off x="6153180" y="3548055"/>
            <a:ext cx="885871" cy="271485"/>
          </a:xfrm>
          <a:prstGeom prst="roundRect">
            <a:avLst>
              <a:gd name="adj" fmla="val 21051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38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JavaScript</a:t>
            </a:r>
            <a:endParaRPr lang="en-US" sz="825" dirty="0"/>
          </a:p>
        </p:txBody>
      </p:sp>
      <p:sp>
        <p:nvSpPr>
          <p:cNvPr id="18" name="Stack HTML5 Canvas"/>
          <p:cNvSpPr/>
          <p:nvPr/>
        </p:nvSpPr>
        <p:spPr>
          <a:xfrm>
            <a:off x="7105620" y="3548055"/>
            <a:ext cx="1019190" cy="271485"/>
          </a:xfrm>
          <a:prstGeom prst="roundRect">
            <a:avLst>
              <a:gd name="adj" fmla="val 21051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38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HTML5 Canvas</a:t>
            </a:r>
            <a:endParaRPr lang="en-US" sz="825" dirty="0"/>
          </a:p>
        </p:txBody>
      </p:sp>
      <p:sp>
        <p:nvSpPr>
          <p:cNvPr id="19" name="Stack ADB"/>
          <p:cNvSpPr/>
          <p:nvPr/>
        </p:nvSpPr>
        <p:spPr>
          <a:xfrm>
            <a:off x="571500" y="3886200"/>
            <a:ext cx="414315" cy="271485"/>
          </a:xfrm>
          <a:prstGeom prst="roundRect">
            <a:avLst>
              <a:gd name="adj" fmla="val 21051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38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ADB</a:t>
            </a:r>
            <a:endParaRPr lang="en-US" sz="825" dirty="0"/>
          </a:p>
        </p:txBody>
      </p:sp>
      <p:sp>
        <p:nvSpPr>
          <p:cNvPr id="20" name="Stack three.js (video)"/>
          <p:cNvSpPr/>
          <p:nvPr/>
        </p:nvSpPr>
        <p:spPr>
          <a:xfrm>
            <a:off x="1052474" y="3886200"/>
            <a:ext cx="1290676" cy="271485"/>
          </a:xfrm>
          <a:prstGeom prst="roundRect">
            <a:avLst>
              <a:gd name="adj" fmla="val 21051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38" kern="0" dirty="0">
                <a:solidFill>
                  <a:schemeClr val="tx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three.js (video)</a:t>
            </a:r>
            <a:endParaRPr lang="en-US" sz="825" dirty="0"/>
          </a:p>
        </p:txBody>
      </p:sp>
      <p:sp>
        <p:nvSpPr>
          <p:cNvPr id="21" name="Text 0"/>
          <p:cNvSpPr/>
          <p:nvPr>
            <p:ph idx="102" type="body" hasCustomPrompt="1"/>
          </p:nvPr>
        </p:nvSpPr>
        <p:spPr>
          <a:xfrm>
            <a:off x="571500" y="4762470"/>
            <a:ext cx="619122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13" kern="0" dirty="0">
                <a:solidFill>
                  <a:srgbClr val="5663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CLYF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19970" y="4762470"/>
            <a:ext cx="952530" cy="133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636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1500" y="523860"/>
            <a:ext cx="8001000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8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TO TRUST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71500" y="738195"/>
            <a:ext cx="8001000" cy="109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76900"/>
              </a:lnSpc>
              <a:buNone/>
            </a:pPr>
            <a:r>
              <a:rPr lang="en-US" sz="39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MEASURED, THEN MODELLED.</a:t>
            </a:r>
            <a:endParaRPr lang="en-US" sz="3900" dirty="0"/>
          </a:p>
        </p:txBody>
      </p:sp>
      <p:sp>
        <p:nvSpPr>
          <p:cNvPr id="4" name="Card measured"/>
          <p:cNvSpPr/>
          <p:nvPr/>
        </p:nvSpPr>
        <p:spPr>
          <a:xfrm>
            <a:off x="571500" y="1500165"/>
            <a:ext cx="3905220" cy="1643085"/>
          </a:xfrm>
          <a:prstGeom prst="roundRect">
            <a:avLst>
              <a:gd name="adj" fmla="val 6956"/>
            </a:avLst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wrap="square" lIns="171450" tIns="180975" rIns="180975" bIns="19050" rtlCol="0" anchor="t"/>
          <a:lstStyle/>
          <a:p>
            <a:pPr algn="l" indent="0" marL="0">
              <a:lnSpc>
                <a:spcPct val="83500"/>
              </a:lnSpc>
              <a:spcAft>
                <a:spcPts val="675"/>
              </a:spcAft>
              <a:buNone/>
            </a:pPr>
            <a:r>
              <a:rPr lang="en-US" sz="21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MEASURED</a:t>
            </a:r>
            <a:endParaRPr lang="en-US" sz="2100" dirty="0"/>
          </a:p>
          <a:p>
            <a:pPr algn="l" marL="142875" indent="-142875">
              <a:lnSpc>
                <a:spcPct val="110400"/>
              </a:lnSpc>
              <a:spcAft>
                <a:spcPts val="525"/>
              </a:spcAft>
              <a:buSzPct val="100000"/>
              <a:buChar char="•"/>
            </a:pPr>
            <a:r>
              <a:rPr lang="en-US" sz="1088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Muscle effort, as % of your own max grip</a:t>
            </a:r>
            <a:endParaRPr lang="en-US" sz="2100" dirty="0"/>
          </a:p>
          <a:p>
            <a:pPr algn="l" marL="142875" indent="-142875">
              <a:lnSpc>
                <a:spcPct val="110400"/>
              </a:lnSpc>
              <a:spcAft>
                <a:spcPts val="525"/>
              </a:spcAft>
              <a:buSzPct val="100000"/>
              <a:buChar char="•"/>
            </a:pPr>
            <a:r>
              <a:rPr lang="en-US" sz="1088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Hand on the hold</a:t>
            </a:r>
            <a:endParaRPr lang="en-US" sz="2100" dirty="0"/>
          </a:p>
          <a:p>
            <a:pPr algn="l" marL="142875" indent="-142875">
              <a:lnSpc>
                <a:spcPct val="110400"/>
              </a:lnSpc>
              <a:spcAft>
                <a:spcPts val="525"/>
              </a:spcAft>
              <a:buSzPct val="100000"/>
              <a:buChar char="•"/>
            </a:pPr>
            <a:r>
              <a:rPr lang="en-US" sz="1088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How long each grip and rest lasted</a:t>
            </a:r>
            <a:endParaRPr lang="en-US" sz="2100" dirty="0"/>
          </a:p>
          <a:p>
            <a:pPr algn="l" marL="142875" indent="-142875">
              <a:lnSpc>
                <a:spcPct val="110400"/>
              </a:lnSpc>
              <a:buSzPct val="100000"/>
              <a:buChar char="•"/>
            </a:pPr>
            <a:r>
              <a:rPr lang="en-US" sz="1088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How relaxed the forearm is while resting</a:t>
            </a:r>
            <a:endParaRPr lang="en-US" sz="2100" dirty="0"/>
          </a:p>
        </p:txBody>
      </p:sp>
      <p:sp>
        <p:nvSpPr>
          <p:cNvPr id="5" name="Card estimated"/>
          <p:cNvSpPr/>
          <p:nvPr/>
        </p:nvSpPr>
        <p:spPr>
          <a:xfrm>
            <a:off x="4667280" y="1500165"/>
            <a:ext cx="3905220" cy="1643085"/>
          </a:xfrm>
          <a:prstGeom prst="roundRect">
            <a:avLst>
              <a:gd name="adj" fmla="val 6956"/>
            </a:avLst>
          </a:prstGeom>
          <a:solidFill>
            <a:schemeClr val="bg2"/>
          </a:solidFill>
          <a:ln w="9525">
            <a:solidFill>
              <a:schemeClr val="accent4">
                <a:alpha val="40000"/>
              </a:schemeClr>
            </a:solidFill>
          </a:ln>
        </p:spPr>
        <p:txBody>
          <a:bodyPr wrap="square" lIns="171450" tIns="180975" rIns="180975" bIns="19050" rtlCol="0" anchor="t"/>
          <a:lstStyle/>
          <a:p>
            <a:pPr algn="l" indent="0" marL="0">
              <a:lnSpc>
                <a:spcPct val="83500"/>
              </a:lnSpc>
              <a:spcAft>
                <a:spcPts val="675"/>
              </a:spcAft>
              <a:buNone/>
            </a:pPr>
            <a:r>
              <a:rPr lang="en-US" sz="2100" b="1" dirty="0">
                <a:solidFill>
                  <a:schemeClr val="accent4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ESTIMATED</a:t>
            </a:r>
            <a:endParaRPr lang="en-US" sz="2100" dirty="0"/>
          </a:p>
          <a:p>
            <a:pPr algn="l" marL="142875" indent="-142875">
              <a:lnSpc>
                <a:spcPct val="110400"/>
              </a:lnSpc>
              <a:spcAft>
                <a:spcPts val="525"/>
              </a:spcAft>
              <a:buSzPct val="100000"/>
              <a:buChar char="•"/>
            </a:pPr>
            <a:r>
              <a:rPr lang="en-US" sz="1088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Battery level and “ready in” countdown, from a W′-balance style model</a:t>
            </a:r>
            <a:endParaRPr lang="en-US" sz="2100" dirty="0"/>
          </a:p>
          <a:p>
            <a:pPr algn="l" marL="142875" indent="-142875">
              <a:lnSpc>
                <a:spcPct val="110400"/>
              </a:lnSpc>
              <a:spcAft>
                <a:spcPts val="525"/>
              </a:spcAft>
              <a:buSzPct val="100000"/>
              <a:buChar char="•"/>
            </a:pPr>
            <a:r>
              <a:rPr lang="en-US" sz="1088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Labelled as an estimate on screen</a:t>
            </a:r>
            <a:endParaRPr lang="en-US" sz="2100" dirty="0"/>
          </a:p>
          <a:p>
            <a:pPr algn="l" marL="142875" indent="-142875">
              <a:lnSpc>
                <a:spcPct val="110400"/>
              </a:lnSpc>
              <a:buSzPct val="100000"/>
              <a:buChar char="•"/>
            </a:pPr>
            <a:r>
              <a:rPr lang="en-US" sz="1088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Demo constants, not yet fitted per climber</a:t>
            </a:r>
            <a:endParaRPr lang="en-US" sz="2100" dirty="0"/>
          </a:p>
        </p:txBody>
      </p:sp>
      <p:sp>
        <p:nvSpPr>
          <p:cNvPr id="6" name="Rule Spiky EMG"/>
          <p:cNvSpPr/>
          <p:nvPr/>
        </p:nvSpPr>
        <p:spPr>
          <a:xfrm>
            <a:off x="571500" y="3338474"/>
            <a:ext cx="1914571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" y="3424245"/>
            <a:ext cx="1914571" cy="78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500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chemeClr val="tx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Spiky EMG</a:t>
            </a:r>
            <a:endParaRPr lang="en-US" sz="900" dirty="0"/>
          </a:p>
          <a:p>
            <a:pPr algn="l" indent="0" marL="0">
              <a:lnSpc>
                <a:spcPct val="114500"/>
              </a:lnSpc>
              <a:buNone/>
            </a:pPr>
            <a:r>
              <a:rPr lang="en-US" sz="900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Calibrating from peaks made hard grips read 30–40%. Per-second averages fixed it.</a:t>
            </a:r>
            <a:endParaRPr lang="en-US" sz="900" dirty="0"/>
          </a:p>
        </p:txBody>
      </p:sp>
      <p:sp>
        <p:nvSpPr>
          <p:cNvPr id="8" name="Rule Loose electrodes"/>
          <p:cNvSpPr/>
          <p:nvPr/>
        </p:nvSpPr>
        <p:spPr>
          <a:xfrm>
            <a:off x="2600371" y="3338474"/>
            <a:ext cx="1914571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0371" y="3424245"/>
            <a:ext cx="1914571" cy="78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500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chemeClr val="tx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Loose electrodes</a:t>
            </a:r>
            <a:endParaRPr lang="en-US" sz="900" dirty="0"/>
          </a:p>
          <a:p>
            <a:pPr algn="l" indent="0" marL="0">
              <a:lnSpc>
                <a:spcPct val="114500"/>
              </a:lnSpc>
              <a:buNone/>
            </a:pPr>
            <a:r>
              <a:rPr lang="en-US" sz="900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A pinned or flat signal is flagged, not turned into a number.</a:t>
            </a:r>
            <a:endParaRPr lang="en-US" sz="900" dirty="0"/>
          </a:p>
        </p:txBody>
      </p:sp>
      <p:sp>
        <p:nvSpPr>
          <p:cNvPr id="10" name="Rule Campus Wi-Fi"/>
          <p:cNvSpPr/>
          <p:nvPr/>
        </p:nvSpPr>
        <p:spPr>
          <a:xfrm>
            <a:off x="4629150" y="3338474"/>
            <a:ext cx="1914571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9150" y="3424245"/>
            <a:ext cx="1914571" cy="78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500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chemeClr val="tx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Campus Wi-Fi</a:t>
            </a:r>
            <a:endParaRPr lang="en-US" sz="900" dirty="0"/>
          </a:p>
          <a:p>
            <a:pPr algn="l" indent="0" marL="0">
              <a:lnSpc>
                <a:spcPct val="114500"/>
              </a:lnSpc>
              <a:buNone/>
            </a:pPr>
            <a:r>
              <a:rPr lang="en-US" sz="900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Device isolation blocked the link, so data runs over USB.</a:t>
            </a:r>
            <a:endParaRPr lang="en-US" sz="900" dirty="0"/>
          </a:p>
        </p:txBody>
      </p:sp>
      <p:sp>
        <p:nvSpPr>
          <p:cNvPr id="12" name="Rule No resistor"/>
          <p:cNvSpPr/>
          <p:nvPr/>
        </p:nvSpPr>
        <p:spPr>
          <a:xfrm>
            <a:off x="6658021" y="3338474"/>
            <a:ext cx="1914571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58021" y="3424245"/>
            <a:ext cx="1914571" cy="78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500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chemeClr val="tx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No resistor</a:t>
            </a:r>
            <a:endParaRPr lang="en-US" sz="900" dirty="0"/>
          </a:p>
          <a:p>
            <a:pPr algn="l" indent="0" marL="0">
              <a:lnSpc>
                <a:spcPct val="114500"/>
              </a:lnSpc>
              <a:buNone/>
            </a:pPr>
            <a:r>
              <a:rPr lang="en-US" sz="900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The FSR floats without one, so it works as a contact switch for now.</a:t>
            </a:r>
            <a:endParaRPr lang="en-US" sz="900" dirty="0"/>
          </a:p>
        </p:txBody>
      </p:sp>
      <p:sp>
        <p:nvSpPr>
          <p:cNvPr id="14" name="Text 0"/>
          <p:cNvSpPr/>
          <p:nvPr>
            <p:ph idx="102" type="body" hasCustomPrompt="1"/>
          </p:nvPr>
        </p:nvSpPr>
        <p:spPr>
          <a:xfrm>
            <a:off x="571500" y="4762470"/>
            <a:ext cx="619122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13" kern="0" dirty="0">
                <a:solidFill>
                  <a:srgbClr val="5663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CLYF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19970" y="4762470"/>
            <a:ext cx="952530" cy="133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636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1500" y="523860"/>
            <a:ext cx="8001000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8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71500" y="738195"/>
            <a:ext cx="8001000" cy="109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76900"/>
              </a:lnSpc>
              <a:buNone/>
            </a:pPr>
            <a:r>
              <a:rPr lang="en-US" sz="39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TURN A FEELING</a:t>
            </a:r>
            <a:endParaRPr lang="en-US" sz="3900" dirty="0"/>
          </a:p>
          <a:p>
            <a:pPr algn="l" indent="0" marL="0">
              <a:lnSpc>
                <a:spcPct val="76900"/>
              </a:lnSpc>
              <a:buNone/>
            </a:pPr>
            <a:r>
              <a:rPr lang="en-US" sz="39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INTO A NUMBER.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2264603"/>
            <a:ext cx="381030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500"/>
              </a:lnSpc>
              <a:buNone/>
            </a:pPr>
            <a:r>
              <a:rPr lang="en-US" sz="2250" b="1" dirty="0">
                <a:solidFill>
                  <a:schemeClr val="accent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→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1009680" y="2264603"/>
            <a:ext cx="3562320" cy="71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500"/>
              </a:lnSpc>
              <a:spcAft>
                <a:spcPts val="300"/>
              </a:spcAft>
              <a:buNone/>
            </a:pPr>
            <a:r>
              <a:rPr lang="en-US" sz="1725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CLIMBERS</a:t>
            </a:r>
            <a:endParaRPr lang="en-US" sz="1013" dirty="0"/>
          </a:p>
          <a:p>
            <a:pPr algn="l" indent="0" marL="0">
              <a:lnSpc>
                <a:spcPct val="118600"/>
              </a:lnSpc>
              <a:buNone/>
            </a:pPr>
            <a:r>
              <a:rPr lang="en-US" sz="1013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Rest exactly as long as you need on a project, and see effort across a session.</a:t>
            </a:r>
            <a:endParaRPr lang="en-US" sz="1013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037545"/>
            <a:ext cx="381030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500"/>
              </a:lnSpc>
              <a:buNone/>
            </a:pPr>
            <a:r>
              <a:rPr lang="en-US" sz="2250" b="1" dirty="0">
                <a:solidFill>
                  <a:schemeClr val="accent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→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1009680" y="3037545"/>
            <a:ext cx="3562320" cy="71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500"/>
              </a:lnSpc>
              <a:spcAft>
                <a:spcPts val="300"/>
              </a:spcAft>
              <a:buNone/>
            </a:pPr>
            <a:r>
              <a:rPr lang="en-US" sz="1725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GYMS AND COACHES</a:t>
            </a:r>
            <a:endParaRPr lang="en-US" sz="1013" dirty="0"/>
          </a:p>
          <a:p>
            <a:pPr algn="l" indent="0" marL="0">
              <a:lnSpc>
                <a:spcPct val="118600"/>
              </a:lnSpc>
              <a:buNone/>
            </a:pPr>
            <a:r>
              <a:rPr lang="en-US" sz="1013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Objective grip load per attempt instead of “how pumped were you?”</a:t>
            </a:r>
            <a:endParaRPr lang="en-US" sz="1013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3810488"/>
            <a:ext cx="381030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500"/>
              </a:lnSpc>
              <a:buNone/>
            </a:pPr>
            <a:r>
              <a:rPr lang="en-US" sz="2250" b="1" dirty="0">
                <a:solidFill>
                  <a:schemeClr val="accent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→</a:t>
            </a:r>
            <a:endParaRPr lang="en-US" sz="2250" dirty="0"/>
          </a:p>
        </p:txBody>
      </p:sp>
      <p:sp>
        <p:nvSpPr>
          <p:cNvPr id="9" name="Text 7"/>
          <p:cNvSpPr txBox="1"/>
          <p:nvPr/>
        </p:nvSpPr>
        <p:spPr>
          <a:xfrm>
            <a:off x="1009680" y="3810488"/>
            <a:ext cx="3562320" cy="71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500"/>
              </a:lnSpc>
              <a:spcAft>
                <a:spcPts val="300"/>
              </a:spcAft>
              <a:buNone/>
            </a:pPr>
            <a:r>
              <a:rPr lang="en-US" sz="1725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BEYOND CLIMBING</a:t>
            </a:r>
            <a:endParaRPr lang="en-US" sz="1013" dirty="0"/>
          </a:p>
          <a:p>
            <a:pPr algn="l" indent="0" marL="0">
              <a:lnSpc>
                <a:spcPct val="118600"/>
              </a:lnSpc>
              <a:buNone/>
            </a:pPr>
            <a:r>
              <a:rPr lang="en-US" sz="1013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Any grip-heavy activity where recovery decides performance.</a:t>
            </a:r>
            <a:endParaRPr lang="en-US" sz="1013" dirty="0"/>
          </a:p>
        </p:txBody>
      </p:sp>
      <p:pic>
        <p:nvPicPr>
          <p:cNvPr id="10" name="Illustration" descr="Dashboard showing READY, climb 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30" y="1924080"/>
            <a:ext cx="3619470" cy="2667030"/>
          </a:xfrm>
          <a:prstGeom prst="rect">
            <a:avLst/>
          </a:prstGeom>
        </p:spPr>
      </p:pic>
      <p:sp>
        <p:nvSpPr>
          <p:cNvPr id="11" name="Illustration frame"/>
          <p:cNvSpPr/>
          <p:nvPr/>
        </p:nvSpPr>
        <p:spPr>
          <a:xfrm>
            <a:off x="4957785" y="1928835"/>
            <a:ext cx="3609960" cy="2657521"/>
          </a:xfrm>
          <a:prstGeom prst="roundRect">
            <a:avLst>
              <a:gd name="adj" fmla="val 4480"/>
            </a:avLst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0"/>
          <p:cNvSpPr/>
          <p:nvPr>
            <p:ph idx="102" type="body" hasCustomPrompt="1"/>
          </p:nvPr>
        </p:nvSpPr>
        <p:spPr>
          <a:xfrm>
            <a:off x="571500" y="4762470"/>
            <a:ext cx="619122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13" kern="0" dirty="0">
                <a:solidFill>
                  <a:srgbClr val="5663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CLYF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19970" y="4762470"/>
            <a:ext cx="952530" cy="133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636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1500" y="523860"/>
            <a:ext cx="8001000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88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WHAT’S NEXT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71500" y="738195"/>
            <a:ext cx="8001000" cy="109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76900"/>
              </a:lnSpc>
              <a:buNone/>
            </a:pPr>
            <a:r>
              <a:rPr lang="en-US" sz="390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EYES ON THE WALL,</a:t>
            </a:r>
            <a:endParaRPr lang="en-US" sz="3900" dirty="0"/>
          </a:p>
          <a:p>
            <a:pPr algn="l" indent="0" marL="0">
              <a:lnSpc>
                <a:spcPct val="76900"/>
              </a:lnSpc>
              <a:buNone/>
            </a:pPr>
            <a:r>
              <a:rPr lang="en-US" sz="3900" b="1" dirty="0">
                <a:solidFill>
                  <a:schemeClr val="accent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NOT ON A SCREEN.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925452"/>
            <a:ext cx="381030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500"/>
              </a:lnSpc>
              <a:buNone/>
            </a:pPr>
            <a:r>
              <a:rPr lang="en-US" sz="2250" b="1" dirty="0">
                <a:solidFill>
                  <a:schemeClr val="accent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1009680" y="1925452"/>
            <a:ext cx="3562320" cy="71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500"/>
              </a:lnSpc>
              <a:spcAft>
                <a:spcPts val="300"/>
              </a:spcAft>
              <a:buNone/>
            </a:pPr>
            <a:r>
              <a:rPr lang="en-US" sz="1725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READY ON THE WRIST</a:t>
            </a:r>
            <a:endParaRPr lang="en-US" sz="1013" dirty="0"/>
          </a:p>
          <a:p>
            <a:pPr algn="l" indent="0" marL="0">
              <a:lnSpc>
                <a:spcPct val="118600"/>
              </a:lnSpc>
              <a:buNone/>
            </a:pPr>
            <a:r>
              <a:rPr lang="en-US" sz="1013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A haptic tap from the watch when you’re recovered. The Bluetooth link is already built.</a:t>
            </a:r>
            <a:endParaRPr lang="en-US" sz="1013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698394"/>
            <a:ext cx="381030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500"/>
              </a:lnSpc>
              <a:buNone/>
            </a:pPr>
            <a:r>
              <a:rPr lang="en-US" sz="2250" b="1" dirty="0">
                <a:solidFill>
                  <a:schemeClr val="accent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2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1009680" y="2698394"/>
            <a:ext cx="3562320" cy="71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500"/>
              </a:lnSpc>
              <a:spcAft>
                <a:spcPts val="300"/>
              </a:spcAft>
              <a:buNone/>
            </a:pPr>
            <a:r>
              <a:rPr lang="en-US" sz="1725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FATIGUE YOU CAN SEE</a:t>
            </a:r>
            <a:endParaRPr lang="en-US" sz="1013" dirty="0"/>
          </a:p>
          <a:p>
            <a:pPr algn="l" indent="0" marL="0">
              <a:lnSpc>
                <a:spcPct val="118600"/>
              </a:lnSpc>
              <a:buNone/>
            </a:pPr>
            <a:r>
              <a:rPr lang="en-US" sz="1013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Track the raw EMG’s frequency shift, a known marker of muscle fatigue.</a:t>
            </a:r>
            <a:endParaRPr lang="en-US" sz="1013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3471428"/>
            <a:ext cx="381030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500"/>
              </a:lnSpc>
              <a:buNone/>
            </a:pPr>
            <a:r>
              <a:rPr lang="en-US" sz="2250" b="1" dirty="0">
                <a:solidFill>
                  <a:schemeClr val="accent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3</a:t>
            </a:r>
            <a:endParaRPr lang="en-US" sz="2250" dirty="0"/>
          </a:p>
        </p:txBody>
      </p:sp>
      <p:sp>
        <p:nvSpPr>
          <p:cNvPr id="9" name="Text 7"/>
          <p:cNvSpPr txBox="1"/>
          <p:nvPr/>
        </p:nvSpPr>
        <p:spPr>
          <a:xfrm>
            <a:off x="1009680" y="3471428"/>
            <a:ext cx="3562320" cy="71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500"/>
              </a:lnSpc>
              <a:spcAft>
                <a:spcPts val="300"/>
              </a:spcAft>
              <a:buNone/>
            </a:pPr>
            <a:r>
              <a:rPr lang="en-US" sz="1725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FITTED TO YOU</a:t>
            </a:r>
            <a:endParaRPr lang="en-US" sz="1013" dirty="0"/>
          </a:p>
          <a:p>
            <a:pPr algn="l" indent="0" marL="0">
              <a:lnSpc>
                <a:spcPct val="118600"/>
              </a:lnSpc>
              <a:buNone/>
            </a:pPr>
            <a:r>
              <a:rPr lang="en-US" sz="1013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Learn each climber’s own drain and recovery rates from their sessions.</a:t>
            </a:r>
            <a:endParaRPr lang="en-US" sz="1013" dirty="0"/>
          </a:p>
        </p:txBody>
      </p:sp>
      <p:sp>
        <p:nvSpPr>
          <p:cNvPr id="10" name="Text 8"/>
          <p:cNvSpPr txBox="1"/>
          <p:nvPr/>
        </p:nvSpPr>
        <p:spPr>
          <a:xfrm>
            <a:off x="571500" y="4244370"/>
            <a:ext cx="381030" cy="35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500"/>
              </a:lnSpc>
              <a:buNone/>
            </a:pPr>
            <a:r>
              <a:rPr lang="en-US" sz="2250" b="1" dirty="0">
                <a:solidFill>
                  <a:schemeClr val="accent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4</a:t>
            </a:r>
            <a:endParaRPr lang="en-US" sz="2250" dirty="0"/>
          </a:p>
        </p:txBody>
      </p:sp>
      <p:sp>
        <p:nvSpPr>
          <p:cNvPr id="11" name="Text 9"/>
          <p:cNvSpPr txBox="1"/>
          <p:nvPr/>
        </p:nvSpPr>
        <p:spPr>
          <a:xfrm>
            <a:off x="1009680" y="4244370"/>
            <a:ext cx="3562320" cy="71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500"/>
              </a:lnSpc>
              <a:spcAft>
                <a:spcPts val="300"/>
              </a:spcAft>
              <a:buNone/>
            </a:pPr>
            <a:r>
              <a:rPr lang="en-US" sz="1725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WIRELESS SLEEVE</a:t>
            </a:r>
            <a:endParaRPr lang="en-US" sz="1013" dirty="0"/>
          </a:p>
          <a:p>
            <a:pPr algn="l" indent="0" marL="0">
              <a:lnSpc>
                <a:spcPct val="118600"/>
              </a:lnSpc>
              <a:buNone/>
            </a:pPr>
            <a:r>
              <a:rPr lang="en-US" sz="1013" dirty="0">
                <a:solidFill>
                  <a:schemeClr val="tx2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Smaller board, battery power, and a cleaner fit.</a:t>
            </a:r>
            <a:endParaRPr lang="en-US" sz="1013" dirty="0"/>
          </a:p>
        </p:txBody>
      </p:sp>
      <p:pic>
        <p:nvPicPr>
          <p:cNvPr id="12" name="Illustration" descr="Diagram of the sleeve, electrodes, MyoWare and Ardui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30" y="1971721"/>
            <a:ext cx="3619470" cy="2667030"/>
          </a:xfrm>
          <a:prstGeom prst="rect">
            <a:avLst/>
          </a:prstGeom>
        </p:spPr>
      </p:pic>
      <p:sp>
        <p:nvSpPr>
          <p:cNvPr id="13" name="Illustration frame"/>
          <p:cNvSpPr/>
          <p:nvPr/>
        </p:nvSpPr>
        <p:spPr>
          <a:xfrm>
            <a:off x="4957785" y="1976476"/>
            <a:ext cx="3609960" cy="2657521"/>
          </a:xfrm>
          <a:prstGeom prst="roundRect">
            <a:avLst>
              <a:gd name="adj" fmla="val 4480"/>
            </a:avLst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0"/>
          <p:cNvSpPr/>
          <p:nvPr>
            <p:ph idx="102" type="body" hasCustomPrompt="1"/>
          </p:nvPr>
        </p:nvSpPr>
        <p:spPr>
          <a:xfrm>
            <a:off x="571500" y="4762470"/>
            <a:ext cx="6191220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113" kern="0" dirty="0">
                <a:solidFill>
                  <a:srgbClr val="5663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CLYF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19970" y="4762470"/>
            <a:ext cx="952530" cy="133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6636B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71500" y="1495410"/>
            <a:ext cx="8001000" cy="161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88" kern="0" dirty="0">
                <a:solidFill>
                  <a:schemeClr val="accent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 YOU</a:t>
            </a:r>
            <a:endParaRPr lang="en-US" sz="9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71500" y="1433505"/>
            <a:ext cx="8001000" cy="1762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0" b="1" dirty="0">
                <a:solidFill>
                  <a:schemeClr val="tx1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CLYF</a:t>
            </a:r>
            <a:endParaRPr lang="en-US" sz="1125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71500" y="2928915"/>
            <a:ext cx="8001000" cy="33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100"/>
              </a:lnSpc>
              <a:buNone/>
            </a:pPr>
            <a:r>
              <a:rPr lang="en-US" sz="1950" b="1" dirty="0">
                <a:solidFill>
                  <a:schemeClr val="tx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Know when to </a:t>
            </a:r>
            <a:pPr algn="ctr" indent="0" marL="0">
              <a:lnSpc>
                <a:spcPct val="98100"/>
              </a:lnSpc>
              <a:buNone/>
            </a:pPr>
            <a:r>
              <a:rPr lang="en-US" sz="1950" b="1" dirty="0">
                <a:solidFill>
                  <a:schemeClr val="accent1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climb again.</a:t>
            </a:r>
            <a:endParaRPr lang="en-US" sz="195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1500" y="3419490"/>
            <a:ext cx="8001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4500"/>
              </a:lnSpc>
              <a:buNone/>
            </a:pPr>
            <a:r>
              <a:rPr lang="en-US" sz="1275" dirty="0">
                <a:solidFill>
                  <a:schemeClr val="accent5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Jeremy Li · BigRed//Hacks 2026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YF">
  <a:themeElements>
    <a:clrScheme name="CLYF">
      <a:dk1>
        <a:srgbClr val="EEF3F5"/>
      </a:dk1>
      <a:lt1>
        <a:srgbClr val="070A0D"/>
      </a:lt1>
      <a:dk2>
        <a:srgbClr val="C4CED3"/>
      </a:dk2>
      <a:lt2>
        <a:srgbClr val="0F151A"/>
      </a:lt2>
      <a:accent1>
        <a:srgbClr val="5CFFC7"/>
      </a:accent1>
      <a:accent2>
        <a:srgbClr val="FFB547"/>
      </a:accent2>
      <a:accent3>
        <a:srgbClr val="4FD8FF"/>
      </a:accent3>
      <a:accent4>
        <a:srgbClr val="FF4F8B"/>
      </a:accent4>
      <a:accent5>
        <a:srgbClr val="8D9AA2"/>
      </a:accent5>
      <a:accent6>
        <a:srgbClr val="1E2A31"/>
      </a:accent6>
      <a:hlink>
        <a:srgbClr val="4FD8FF"/>
      </a:hlink>
      <a:folHlink>
        <a:srgbClr val="FF4F8B"/>
      </a:folHlink>
    </a:clrScheme>
    <a:fontScheme name="CLYF">
      <a:majorFont>
        <a:latin typeface="Big Shoulder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mmission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CLYF</dc:title>
  <dc:subject>BigRed//Hacks 2026</dc:subject>
  <dc:creator>Jeremy Li</dc:creator>
  <cp:lastModifiedBy>Jeremy Li</cp:lastModifiedBy>
  <cp:revision>1</cp:revision>
  <dcterms:created xsi:type="dcterms:W3CDTF">2026-10-03T21:58:21Z</dcterms:created>
  <dcterms:modified xsi:type="dcterms:W3CDTF">2026-10-03T21:58:21Z</dcterms:modified>
</cp:coreProperties>
</file>